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PRIVY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71323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Segoe UI Semibold"/>
              </a:rPr>
              <a:t>SMART INDIA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457200"/>
            <a:ext cx="2011680" cy="2011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49808"/>
            <a:ext cx="2011680" cy="201168"/>
          </a:xfrm>
          <a:prstGeom prst="rect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B2633"/>
                </a:solidFill>
                <a:latin typeface="Segoe UI Semibold"/>
              </a:rPr>
              <a:t>PRIVYSE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3A33B5"/>
                </a:solidFill>
                <a:latin typeface="Segoe UI Semibold"/>
              </a:rPr>
              <a:t>Privacy-First Visual Perception for Lightweight Browser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B"/>
                </a:solidFill>
                <a:latin typeface="Segoe UI"/>
              </a:rPr>
              <a:t>See locally. Sanitize privately. Act intelligently.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92040"/>
            <a:ext cx="103327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50292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29200"/>
            <a:ext cx="1051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956048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B6B7B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50292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5029200"/>
            <a:ext cx="1051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SANITIZE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956048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B6B7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50292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5029200"/>
            <a:ext cx="1051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REASON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956048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B6B7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50292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3A3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5029200"/>
            <a:ext cx="1051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806440"/>
            <a:ext cx="32918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5806440"/>
            <a:ext cx="270905264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Segoe UI"/>
              </a:rPr>
              <a:t>PS ID  </a:t>
            </a:r>
            <a:r>
              <a:rPr sz="1200" b="0">
                <a:solidFill>
                  <a:srgbClr val="1B2633"/>
                </a:solidFill>
                <a:latin typeface="Segoe UI"/>
              </a:rPr>
              <a:t>26171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5806440"/>
            <a:ext cx="32918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5806440"/>
            <a:ext cx="270905264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Segoe UI"/>
              </a:rPr>
              <a:t>Organization  </a:t>
            </a:r>
            <a:r>
              <a:rPr sz="1200" b="0">
                <a:solidFill>
                  <a:srgbClr val="1B2633"/>
                </a:solidFill>
                <a:latin typeface="Segoe UI"/>
              </a:rPr>
              <a:t>ISRO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81544" y="5806440"/>
            <a:ext cx="32918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5806440"/>
            <a:ext cx="270905264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Segoe UI"/>
              </a:rPr>
              <a:t>Theme  </a:t>
            </a:r>
            <a:r>
              <a:rPr sz="1200" b="0">
                <a:solidFill>
                  <a:srgbClr val="1B2633"/>
                </a:solidFill>
                <a:latin typeface="Segoe UI"/>
              </a:rPr>
              <a:t>Smart Automation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6501384"/>
            <a:ext cx="32918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" y="6501384"/>
            <a:ext cx="270905264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Segoe UI"/>
              </a:rPr>
              <a:t>Category  </a:t>
            </a:r>
            <a:r>
              <a:rPr sz="1200" b="0">
                <a:solidFill>
                  <a:srgbClr val="1B2633"/>
                </a:solidFill>
                <a:latin typeface="Segoe UI"/>
              </a:rPr>
              <a:t>Software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5112" y="6501384"/>
            <a:ext cx="32918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6501384"/>
            <a:ext cx="270905264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Segoe UI"/>
              </a:rPr>
              <a:t>Team ID  </a:t>
            </a:r>
            <a:r>
              <a:rPr sz="1200" b="0">
                <a:solidFill>
                  <a:srgbClr val="1B2633"/>
                </a:solidFill>
                <a:latin typeface="Segoe UI"/>
              </a:rPr>
              <a:t>———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81544" y="6501384"/>
            <a:ext cx="32918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6501384"/>
            <a:ext cx="270905264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Segoe UI"/>
              </a:rPr>
              <a:t>Team Name  </a:t>
            </a:r>
            <a:r>
              <a:rPr sz="1200" b="0">
                <a:solidFill>
                  <a:srgbClr val="1B2633"/>
                </a:solidFill>
                <a:latin typeface="Segoe UI"/>
              </a:rPr>
              <a:t>———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5B6B7B"/>
                </a:solidFill>
                <a:latin typeface="Segoe UI Semibold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68580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633"/>
                </a:solidFill>
                <a:latin typeface="Segoe UI Semibold"/>
              </a:rPr>
              <a:t>The Privacy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Segoe UI"/>
              </a:rPr>
              <a:t>What happens when an AI browser agent can see everything on your screen?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6B7B"/>
                </a:solidFill>
                <a:latin typeface="Segoe UI"/>
              </a:rPr>
              <a:t>PRIVYSE  ·  SIH 2026  ·  Your Team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 Semibold"/>
              </a:rPr>
              <a:t>RAW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43200"/>
            <a:ext cx="4206240" cy="640080"/>
          </a:xfrm>
          <a:prstGeom prst="roundRect">
            <a:avLst>
              <a:gd name="adj" fmla="val 20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05D5D"/>
                </a:solidFill>
                <a:latin typeface="Segoe UI"/>
              </a:rPr>
              <a:t>Browser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832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B6B7B"/>
                </a:solidFill>
                <a:latin typeface="Segoe U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02736"/>
            <a:ext cx="4206240" cy="640080"/>
          </a:xfrm>
          <a:prstGeom prst="roundRect">
            <a:avLst>
              <a:gd name="adj" fmla="val 20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02736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05D5D"/>
                </a:solidFill>
                <a:latin typeface="Segoe UI"/>
              </a:rPr>
              <a:t>Raw screenshot / DOM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242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B6B7B"/>
                </a:solidFill>
                <a:latin typeface="Segoe U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62272"/>
            <a:ext cx="4206240" cy="640080"/>
          </a:xfrm>
          <a:prstGeom prst="roundRect">
            <a:avLst>
              <a:gd name="adj" fmla="val 20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62272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05D5D"/>
                </a:solidFill>
                <a:latin typeface="Segoe UI"/>
              </a:rPr>
              <a:t>Remote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5D5D"/>
                </a:solidFill>
                <a:latin typeface="Segoe UI Semibold"/>
              </a:rPr>
              <a:t>Sensitive data can leak: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passwords · emails · phones · addresses · IDs · cards · 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96596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2940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19456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 Semibold"/>
              </a:rPr>
              <a:t>PRIVYSE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2743200"/>
            <a:ext cx="4572000" cy="566928"/>
          </a:xfrm>
          <a:prstGeom prst="roundRect">
            <a:avLst>
              <a:gd name="adj" fmla="val 18000"/>
            </a:avLst>
          </a:prstGeom>
          <a:solidFill>
            <a:srgbClr val="E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2743200"/>
            <a:ext cx="109728" cy="566928"/>
          </a:xfrm>
          <a:prstGeom prst="rect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2743200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"/>
              </a:rPr>
              <a:t>Local Perception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438144"/>
            <a:ext cx="4572000" cy="566928"/>
          </a:xfrm>
          <a:prstGeom prst="roundRect">
            <a:avLst>
              <a:gd name="adj" fmla="val 18000"/>
            </a:avLst>
          </a:prstGeom>
          <a:solidFill>
            <a:srgbClr val="E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3438144"/>
            <a:ext cx="109728" cy="566928"/>
          </a:xfrm>
          <a:prstGeom prst="rect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3438144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"/>
              </a:rPr>
              <a:t>Privacy Detection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133088"/>
            <a:ext cx="4572000" cy="566928"/>
          </a:xfrm>
          <a:prstGeom prst="roundRect">
            <a:avLst>
              <a:gd name="adj" fmla="val 18000"/>
            </a:avLst>
          </a:prstGeom>
          <a:solidFill>
            <a:srgbClr val="E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4133088"/>
            <a:ext cx="109728" cy="56692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133088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"/>
              </a:rPr>
              <a:t>Redaction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4828032"/>
            <a:ext cx="4572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4828032"/>
            <a:ext cx="109728" cy="56692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828032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"/>
              </a:rPr>
              <a:t>Sanitized Context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5522976"/>
            <a:ext cx="4572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0" y="5522976"/>
            <a:ext cx="109728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5522976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"/>
              </a:rPr>
              <a:t>AI Reasoning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8704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9E8C"/>
                </a:solidFill>
                <a:latin typeface="Segoe UI"/>
              </a:rPr>
              <a:t>Sensitive info is protected locally before AI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 Semibold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5B6B7B"/>
                </a:solidFill>
                <a:latin typeface="Segoe UI Semibold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68580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2633"/>
                </a:solidFill>
                <a:latin typeface="Segoe UI Semibold"/>
              </a:rPr>
              <a:t>Technical Approach — The Privacy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Segoe UI"/>
              </a:rPr>
              <a:t>CAPTURE → PERCEIVE → PROTECT → SANITIZE → REASON → ACT → RECAPTURE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6B7B"/>
                </a:solidFill>
                <a:latin typeface="Segoe UI"/>
              </a:rPr>
              <a:t>PRIVYSE  ·  SIH 2026  ·  Your Team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110642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1064240" cy="384048"/>
          </a:xfrm>
          <a:prstGeom prst="rect">
            <a:avLst/>
          </a:prstGeom>
          <a:solidFill>
            <a:srgbClr val="EC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5486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33B5"/>
                </a:solidFill>
                <a:latin typeface="Segoe UI Semibold"/>
              </a:rPr>
              <a:t>ON-DEVICE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68880"/>
            <a:ext cx="22814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3347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51760"/>
            <a:ext cx="14127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 Semibold"/>
              </a:rP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246120"/>
            <a:ext cx="19156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visible state + DOM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3844" y="2468880"/>
            <a:ext cx="22814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61004" y="2606040"/>
            <a:ext cx="457200" cy="457200"/>
          </a:xfrm>
          <a:prstGeom prst="ellipse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1004" y="263347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5364" y="2651760"/>
            <a:ext cx="14127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 Semibold"/>
              </a:rPr>
              <a:t>PERCEIVE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5012" y="3246120"/>
            <a:ext cx="19156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elements, structure, regions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4728" y="2468880"/>
            <a:ext cx="22814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61888" y="2606040"/>
            <a:ext cx="457200" cy="457200"/>
          </a:xfrm>
          <a:prstGeom prst="ellipse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263347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2651760"/>
            <a:ext cx="14127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 Semibold"/>
              </a:rPr>
              <a:t>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896" y="3246120"/>
            <a:ext cx="19156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detect PII / sensitive regions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5612" y="2468880"/>
            <a:ext cx="228142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62772" y="2606040"/>
            <a:ext cx="457200" cy="457200"/>
          </a:xfrm>
          <a:prstGeom prst="ellipse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2772" y="2633472"/>
            <a:ext cx="457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7132" y="2651760"/>
            <a:ext cx="14127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 Semibold"/>
              </a:rPr>
              <a:t>SANITIZE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6780" y="3246120"/>
            <a:ext cx="19156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redact · blur ·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331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B7B"/>
                </a:solidFill>
                <a:latin typeface="Segoe UI"/>
              </a:rPr>
              <a:t>↻ loop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92040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PRIVACY BOUNDARY  —  only sanitized, tokenized context crosses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solidFill>
            <a:srgbClr val="EC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33B5"/>
                </a:solidFill>
                <a:latin typeface="Segoe UI Semibold"/>
              </a:rPr>
              <a:t>REMOTE AI / VLM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2633"/>
                </a:solidFill>
                <a:latin typeface="Segoe UI"/>
              </a:rPr>
              <a:t>Receives only the sanitized context → returns a validated action → executed on-device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 Semibold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5B6B7B"/>
                </a:solidFill>
                <a:latin typeface="Segoe UI Semibold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68580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633"/>
                </a:solidFill>
                <a:latin typeface="Segoe UI Semibold"/>
              </a:rPr>
              <a:t>Innovation &amp; Uniqueness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6B7B"/>
                </a:solidFill>
                <a:latin typeface="Segoe UI"/>
              </a:rPr>
              <a:t>PRIVYSE  ·  SIH 2026  ·  Your Team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34930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28016" cy="2331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1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39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633"/>
                </a:solidFill>
                <a:latin typeface="Segoe UI Semibold"/>
              </a:rPr>
              <a:t>Sanitize before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59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Sensitive info is protected before any remote reasoning.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1874519"/>
            <a:ext cx="34930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874519"/>
            <a:ext cx="128016" cy="2331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039111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377439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633"/>
                </a:solidFill>
                <a:latin typeface="Segoe UI Semibold"/>
              </a:rPr>
              <a:t>Stable privacy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880359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Same value → same token ({EMAIL#2}) preserves context without exposure.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1874519"/>
            <a:ext cx="34930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6992" y="1874519"/>
            <a:ext cx="128016" cy="2331720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039111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05D5D"/>
                </a:solidFill>
                <a:latin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77439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633"/>
                </a:solidFill>
                <a:latin typeface="Segoe UI Semibold"/>
              </a:rPr>
              <a:t>Fail-closed 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880359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If unsure, the privacy layer blocks transmission rather than risk a leak.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34839"/>
            <a:ext cx="34930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34839"/>
            <a:ext cx="128016" cy="2331720"/>
          </a:xfrm>
          <a:prstGeom prst="rect">
            <a:avLst/>
          </a:prstGeom>
          <a:solidFill>
            <a:srgbClr val="3A3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99431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33B5"/>
                </a:solidFill>
                <a:latin typeface="Segoe UI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37759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633"/>
                </a:solidFill>
                <a:latin typeface="Segoe UI Semibold"/>
              </a:rPr>
              <a:t>Element-ID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40679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AI picks a target ({CLICK #12}) — no arbitrary coordinates.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2816" y="4434839"/>
            <a:ext cx="34930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42816" y="4434839"/>
            <a:ext cx="128016" cy="233172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599431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9E8C"/>
                </a:solidFill>
                <a:latin typeface="Segoe UI Semibol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4937759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633"/>
                </a:solidFill>
                <a:latin typeface="Segoe UI Semibold"/>
              </a:rPr>
              <a:t>Hybrid perception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5440679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DOM + local vision + sanitized screenshot + Set-of-Marks.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33B5"/>
                </a:solidFill>
                <a:latin typeface="Segoe UI"/>
              </a:rPr>
              <a:t>PRIVYSE separates perception, privacy, reasoning, and execution instead of shipping the whole browser state to the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 Semibold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5B6B7B"/>
                </a:solidFill>
                <a:latin typeface="Segoe UI Semibold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68580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633"/>
                </a:solidFill>
                <a:latin typeface="Segoe UI Semibold"/>
              </a:rPr>
              <a:t>Feasibility &amp;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Segoe UI"/>
              </a:rPr>
              <a:t>Each challenge maps to an engineering strategy built on deployable web technologies.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6B7B"/>
                </a:solidFill>
                <a:latin typeface="Segoe UI"/>
              </a:rPr>
              <a:t>PRIVYSE  ·  SIH 2026  ·  Your Team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4846320" cy="804672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109728" cy="804672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4389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05D5D"/>
                </a:solidFill>
                <a:latin typeface="Segoe UI Semibold"/>
              </a:rPr>
              <a:t>Lightweight on-device perception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874519"/>
            <a:ext cx="6035040" cy="8046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1874519"/>
            <a:ext cx="109728" cy="80467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874519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Tiny-vision models · ONNX Runtime Web · WebGPU / WASM · resolution-aware 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19"/>
            <a:ext cx="4846320" cy="804672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88919"/>
            <a:ext cx="109728" cy="804672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88919"/>
            <a:ext cx="4389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05D5D"/>
                </a:solidFill>
                <a:latin typeface="Segoe UI Semibold"/>
              </a:rPr>
              <a:t>PII detection (DOM + pixels)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2788919"/>
            <a:ext cx="6035040" cy="8046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2788919"/>
            <a:ext cx="109728" cy="80467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788919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DOM-aware detection · OCR where needed · pattern matching for structured IDs · local 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19"/>
            <a:ext cx="4846320" cy="804672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703319"/>
            <a:ext cx="109728" cy="804672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03319"/>
            <a:ext cx="4389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05D5D"/>
                </a:solidFill>
                <a:latin typeface="Segoe UI Semibold"/>
              </a:rPr>
              <a:t>Redaction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3703319"/>
            <a:ext cx="6035040" cy="8046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0" y="3703319"/>
            <a:ext cx="109728" cy="80467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703319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Conservative detection · confidence thresholds · fail-closed · precision / recall eval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17719"/>
            <a:ext cx="4846320" cy="804672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617719"/>
            <a:ext cx="109728" cy="804672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19"/>
            <a:ext cx="4389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05D5D"/>
                </a:solidFill>
                <a:latin typeface="Segoe UI Semibold"/>
              </a:rPr>
              <a:t>Latency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4617719"/>
            <a:ext cx="6035040" cy="8046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0" y="4617719"/>
            <a:ext cx="109728" cy="80467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617719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Cache page structure · incremental perception · lightweight models · process only changed regions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32119"/>
            <a:ext cx="4846320" cy="804672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532119"/>
            <a:ext cx="109728" cy="804672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19"/>
            <a:ext cx="4389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05D5D"/>
                </a:solidFill>
                <a:latin typeface="Segoe UI Semibold"/>
              </a:rPr>
              <a:t>Browser compatibility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2120" y="5532119"/>
            <a:ext cx="6035040" cy="8046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0" y="5532119"/>
            <a:ext cx="109728" cy="80467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5532119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WebExtensions · Chrome / Firefox layer · DOM-based action execution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33B5"/>
                </a:solidFill>
                <a:latin typeface="Segoe UI"/>
              </a:rPr>
              <a:t>The architecture relies on deployable browser technologies and lightweight ML runtimes — an end-to-end prototype is feasible within the SIH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 Semibold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5B6B7B"/>
                </a:solidFill>
                <a:latin typeface="Segoe UI Semibold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68580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633"/>
                </a:solidFill>
                <a:latin typeface="Segoe UI Semibold"/>
              </a:rPr>
              <a:t>Impact &amp;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6B7B"/>
                </a:solidFill>
                <a:latin typeface="Segoe UI"/>
              </a:rPr>
              <a:t>PRIVYSE  ·  SIH 2026  ·  Your Team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28016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3911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Segoe UI Semibold"/>
              </a:rP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04871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B2633"/>
                </a:solidFill>
                <a:latin typeface="Segoe UI"/>
              </a:rPr>
              <a:t>Less exposure of PII, credentials, financial info, faces, and sensitive page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128016" cy="13716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03911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9E8C"/>
                </a:solidFill>
                <a:latin typeface="Segoe UI Semibold"/>
              </a:rPr>
              <a:t>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1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B2633"/>
                </a:solidFill>
                <a:latin typeface="Segoe UI"/>
              </a:rPr>
              <a:t>Local perception reduces raw visual data sent to remote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28016" cy="1371600"/>
          </a:xfrm>
          <a:prstGeom prst="rect">
            <a:avLst/>
          </a:prstGeom>
          <a:solidFill>
            <a:srgbClr val="3A3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5478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33B5"/>
                </a:solidFill>
                <a:latin typeface="Segoe UI Semibold"/>
              </a:rPr>
              <a:t>USEFUL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913632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B2633"/>
                </a:solidFill>
                <a:latin typeface="Segoe UI"/>
              </a:rPr>
              <a:t>Multi-step browser tasks within a clear privacy boundary.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128016" cy="1371600"/>
          </a:xfrm>
          <a:prstGeom prst="rect">
            <a:avLst/>
          </a:prstGeom>
          <a:solidFill>
            <a:srgbClr val="F09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5478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09D3C"/>
                </a:solidFill>
                <a:latin typeface="Segoe UI Semibold"/>
              </a:rPr>
              <a:t>BROADER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913632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B2633"/>
                </a:solidFill>
                <a:latin typeface="Segoe UI"/>
              </a:rPr>
              <a:t>Banking · e-commerce · healthcare · govt services · enterprise · education.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633"/>
                </a:solidFill>
                <a:latin typeface="Segoe UI Semibold"/>
              </a:rPr>
              <a:t>Raw agent vs PRIVYSE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0F3F8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5780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05D5D"/>
                </a:solidFill>
                <a:latin typeface="Segoe UI Semibold"/>
              </a:rPr>
              <a:t>Raw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257800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2633"/>
                </a:solidFill>
                <a:latin typeface="Segoe UI"/>
              </a:rPr>
              <a:t>Browser → Raw context →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89320"/>
            <a:ext cx="11064240" cy="658368"/>
          </a:xfrm>
          <a:prstGeom prst="roundRect">
            <a:avLst/>
          </a:prstGeom>
          <a:solidFill>
            <a:srgbClr val="E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9E8C"/>
                </a:solidFill>
                <a:latin typeface="Segoe UI Semibold"/>
              </a:rPr>
              <a:t>PRIVYSE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989320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2633"/>
                </a:solidFill>
                <a:latin typeface="Segoe UI"/>
              </a:rPr>
              <a:t>Browser → Local perception → Privacy gate → Sanitized context →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 Semibold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463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5B6B7B"/>
                </a:solidFill>
                <a:latin typeface="Segoe UI Semibold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68580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2633"/>
                </a:solidFill>
                <a:latin typeface="Segoe UI Semibold"/>
              </a:rPr>
              <a:t>Research, Evidence &amp;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6B7B"/>
                </a:solidFill>
                <a:latin typeface="Segoe UI"/>
              </a:rPr>
              <a:t>PRIVYSE  ·  SIH 2026  ·  Your Team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28016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0253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Segoe UI Semibold"/>
              </a:rPr>
              <a:t>Browser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31719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visual browser agents · web agents · multimodal automation · DOM +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128016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00253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Segoe UI Semibold"/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331719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PII detection · privacy-preserving AI · local sanitization · redaction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39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91839"/>
            <a:ext cx="128016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41985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Segoe UI Semibold"/>
              </a:rPr>
              <a:t>On-Device Perception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749039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ONNX Runtime Web · WebGPU · MediaPipe · OCR · lightweight 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91839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291839"/>
            <a:ext cx="128016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41985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Segoe UI Semibold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749039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visual-context accuracy · PII P/R · redaction precision · client resources · latency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64240" cy="960120"/>
          </a:xfrm>
          <a:prstGeom prst="roundRect">
            <a:avLst/>
          </a:prstGeom>
          <a:solidFill>
            <a:srgbClr val="EF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3036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33B5"/>
                </a:solidFill>
                <a:latin typeface="Segoe UI Semibold"/>
              </a:rPr>
              <a:t>Prototype validation metrics (measured)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B2633"/>
                </a:solidFill>
                <a:latin typeface="Segoe UI"/>
              </a:rPr>
              <a:t>PII detection F1 ~0.98 · redaction precision ~0.96 · zero-leak ✓ · faces blurred · on-device-facing latency ~12s/step (routed 3B/7B)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Segoe UI"/>
              </a:rPr>
              <a:t>No fabricated benchmarks — all figures from our benchmark harness; placeholders where team data is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