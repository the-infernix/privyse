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imes New Roman Bold" charset="1" panose="02020803070505020304"/>
      <p:regular r:id="rId14"/>
    </p:embeddedFont>
    <p:embeddedFont>
      <p:font typeface="Garamond Bold" charset="1" panose="02020804030307010803"/>
      <p:regular r:id="rId15"/>
    </p:embeddedFont>
    <p:embeddedFont>
      <p:font typeface="Arial Bold" charset="1" panose="020B0704020202020204"/>
      <p:regular r:id="rId16"/>
    </p:embeddedFont>
    <p:embeddedFont>
      <p:font typeface="Oilvare Base" charset="1" panose="00000500000000000000"/>
      <p:regular r:id="rId17"/>
    </p:embeddedFont>
    <p:embeddedFont>
      <p:font typeface="Trade Gothic Condensed Bold" charset="1" panose="020B0806040303020004"/>
      <p:regular r:id="rId18"/>
    </p:embeddedFont>
    <p:embeddedFont>
      <p:font typeface="Trade Gothic Condensed" charset="1" panose="020B0506040303020004"/>
      <p:regular r:id="rId19"/>
    </p:embeddedFont>
    <p:embeddedFont>
      <p:font typeface="Calibri (MS)" charset="1" panose="020F0502020204030204"/>
      <p:regular r:id="rId20"/>
    </p:embeddedFont>
    <p:embeddedFont>
      <p:font typeface="Lovelo" charset="1" panose="02000000000000000000"/>
      <p:regular r:id="rId21"/>
    </p:embeddedFont>
    <p:embeddedFont>
      <p:font typeface="Intro Rust" charset="1" panose="00000500000000000000"/>
      <p:regular r:id="rId22"/>
    </p:embeddedFont>
    <p:embeddedFont>
      <p:font typeface="Montserrat Bold" charset="1" panose="00000800000000000000"/>
      <p:regular r:id="rId23"/>
    </p:embeddedFont>
    <p:embeddedFont>
      <p:font typeface="Arial" charset="1" panose="020B0604020202020204"/>
      <p:regular r:id="rId24"/>
    </p:embeddedFont>
    <p:embeddedFont>
      <p:font typeface="Canva Sans Bold Italics" charset="1" panose="020B0803030501040103"/>
      <p:regular r:id="rId25"/>
    </p:embeddedFont>
    <p:embeddedFont>
      <p:font typeface="Times New Roman" charset="1" panose="02020603050405020304"/>
      <p:regular r:id="rId26"/>
    </p:embeddedFont>
    <p:embeddedFont>
      <p:font typeface="Arimo Bold" charset="1" panose="020B0704020202020204"/>
      <p:regular r:id="rId27"/>
    </p:embeddedFont>
    <p:embeddedFont>
      <p:font typeface="Times New Roman Italics" charset="1" panose="02020503050405090304"/>
      <p:regular r:id="rId28"/>
    </p:embeddedFont>
    <p:embeddedFont>
      <p:font typeface="Arimo" charset="1" panose="020B0604020202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media/image19.png" Type="http://schemas.openxmlformats.org/officeDocument/2006/relationships/image"/><Relationship Id="rId18" Target="../media/image20.svg" Type="http://schemas.openxmlformats.org/officeDocument/2006/relationships/image"/><Relationship Id="rId19" Target="../media/image21.png" Type="http://schemas.openxmlformats.org/officeDocument/2006/relationships/image"/><Relationship Id="rId2" Target="../media/image4.jpeg" Type="http://schemas.openxmlformats.org/officeDocument/2006/relationships/image"/><Relationship Id="rId20" Target="../media/image22.svg" Type="http://schemas.openxmlformats.org/officeDocument/2006/relationships/image"/><Relationship Id="rId21" Target="../media/image23.png" Type="http://schemas.openxmlformats.org/officeDocument/2006/relationships/image"/><Relationship Id="rId22" Target="../media/image24.svg" Type="http://schemas.openxmlformats.org/officeDocument/2006/relationships/image"/><Relationship Id="rId23" Target="../media/image25.png" Type="http://schemas.openxmlformats.org/officeDocument/2006/relationships/image"/><Relationship Id="rId24" Target="../media/image26.svg" Type="http://schemas.openxmlformats.org/officeDocument/2006/relationships/image"/><Relationship Id="rId25" Target="../media/image27.png" Type="http://schemas.openxmlformats.org/officeDocument/2006/relationships/image"/><Relationship Id="rId26" Target="../media/image28.svg" Type="http://schemas.openxmlformats.org/officeDocument/2006/relationships/image"/><Relationship Id="rId27" Target="../media/image29.png" Type="http://schemas.openxmlformats.org/officeDocument/2006/relationships/image"/><Relationship Id="rId28" Target="../media/image30.svg" Type="http://schemas.openxmlformats.org/officeDocument/2006/relationships/image"/><Relationship Id="rId29" Target="../media/image31.png" Type="http://schemas.openxmlformats.org/officeDocument/2006/relationships/image"/><Relationship Id="rId3" Target="../media/image5.png" Type="http://schemas.openxmlformats.org/officeDocument/2006/relationships/image"/><Relationship Id="rId30" Target="../media/image32.svg" Type="http://schemas.openxmlformats.org/officeDocument/2006/relationships/image"/><Relationship Id="rId31" Target="../media/image33.png" Type="http://schemas.openxmlformats.org/officeDocument/2006/relationships/image"/><Relationship Id="rId32" Target="../media/image34.svg" Type="http://schemas.openxmlformats.org/officeDocument/2006/relationships/image"/><Relationship Id="rId33" Target="../media/image35.png" Type="http://schemas.openxmlformats.org/officeDocument/2006/relationships/image"/><Relationship Id="rId34" Target="../media/image36.svg" Type="http://schemas.openxmlformats.org/officeDocument/2006/relationships/image"/><Relationship Id="rId35" Target="../media/image37.png" Type="http://schemas.openxmlformats.org/officeDocument/2006/relationships/image"/><Relationship Id="rId36" Target="../media/image38.svg" Type="http://schemas.openxmlformats.org/officeDocument/2006/relationships/image"/><Relationship Id="rId37" Target="../media/image39.png" Type="http://schemas.openxmlformats.org/officeDocument/2006/relationships/image"/><Relationship Id="rId38" Target="../media/image40.png" Type="http://schemas.openxmlformats.org/officeDocument/2006/relationships/image"/><Relationship Id="rId39" Target="../media/image41.png" Type="http://schemas.openxmlformats.org/officeDocument/2006/relationships/image"/><Relationship Id="rId4" Target="../media/image6.png" Type="http://schemas.openxmlformats.org/officeDocument/2006/relationships/image"/><Relationship Id="rId40" Target="../media/image42.png" Type="http://schemas.openxmlformats.org/officeDocument/2006/relationships/image"/><Relationship Id="rId41" Target="../media/image43.png" Type="http://schemas.openxmlformats.org/officeDocument/2006/relationships/image"/><Relationship Id="rId42" Target="../media/image44.svg" Type="http://schemas.openxmlformats.org/officeDocument/2006/relationships/image"/><Relationship Id="rId43" Target="../media/image45.png" Type="http://schemas.openxmlformats.org/officeDocument/2006/relationships/image"/><Relationship Id="rId44" Target="../media/image46.svg" Type="http://schemas.openxmlformats.org/officeDocument/2006/relationships/image"/><Relationship Id="rId45" Target="../media/image47.png" Type="http://schemas.openxmlformats.org/officeDocument/2006/relationships/image"/><Relationship Id="rId46" Target="../media/image48.svg" Type="http://schemas.openxmlformats.org/officeDocument/2006/relationships/image"/><Relationship Id="rId47" Target="../media/image49.png" Type="http://schemas.openxmlformats.org/officeDocument/2006/relationships/image"/><Relationship Id="rId48" Target="../media/image50.svg" Type="http://schemas.openxmlformats.org/officeDocument/2006/relationships/image"/><Relationship Id="rId49" Target="../media/image51.png" Type="http://schemas.openxmlformats.org/officeDocument/2006/relationships/image"/><Relationship Id="rId5" Target="../media/image7.png" Type="http://schemas.openxmlformats.org/officeDocument/2006/relationships/image"/><Relationship Id="rId50" Target="../media/image52.png" Type="http://schemas.openxmlformats.org/officeDocument/2006/relationships/image"/><Relationship Id="rId51" Target="../media/image53.svg" Type="http://schemas.openxmlformats.org/officeDocument/2006/relationships/image"/><Relationship Id="rId52" Target="../media/image54.png" Type="http://schemas.openxmlformats.org/officeDocument/2006/relationships/image"/><Relationship Id="rId53" Target="../media/image55.png" Type="http://schemas.openxmlformats.org/officeDocument/2006/relationships/image"/><Relationship Id="rId54" Target="../media/image56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svg" Type="http://schemas.openxmlformats.org/officeDocument/2006/relationships/image"/><Relationship Id="rId12" Target="../media/image65.png" Type="http://schemas.openxmlformats.org/officeDocument/2006/relationships/image"/><Relationship Id="rId13" Target="../media/image66.svg" Type="http://schemas.openxmlformats.org/officeDocument/2006/relationships/image"/><Relationship Id="rId14" Target="../media/image67.png" Type="http://schemas.openxmlformats.org/officeDocument/2006/relationships/image"/><Relationship Id="rId15" Target="../media/image68.svg" Type="http://schemas.openxmlformats.org/officeDocument/2006/relationships/image"/><Relationship Id="rId16" Target="../media/image69.png" Type="http://schemas.openxmlformats.org/officeDocument/2006/relationships/image"/><Relationship Id="rId17" Target="../media/image70.svg" Type="http://schemas.openxmlformats.org/officeDocument/2006/relationships/image"/><Relationship Id="rId18" Target="../media/image71.png" Type="http://schemas.openxmlformats.org/officeDocument/2006/relationships/image"/><Relationship Id="rId19" Target="../media/image72.svg" Type="http://schemas.openxmlformats.org/officeDocument/2006/relationships/image"/><Relationship Id="rId2" Target="../media/image4.jpeg" Type="http://schemas.openxmlformats.org/officeDocument/2006/relationships/image"/><Relationship Id="rId20" Target="../media/image73.png" Type="http://schemas.openxmlformats.org/officeDocument/2006/relationships/image"/><Relationship Id="rId21" Target="../media/image74.svg" Type="http://schemas.openxmlformats.org/officeDocument/2006/relationships/image"/><Relationship Id="rId22" Target="../media/image75.png" Type="http://schemas.openxmlformats.org/officeDocument/2006/relationships/image"/><Relationship Id="rId23" Target="../media/image76.svg" Type="http://schemas.openxmlformats.org/officeDocument/2006/relationships/image"/><Relationship Id="rId24" Target="../media/image77.png" Type="http://schemas.openxmlformats.org/officeDocument/2006/relationships/image"/><Relationship Id="rId25" Target="../media/image78.svg" Type="http://schemas.openxmlformats.org/officeDocument/2006/relationships/image"/><Relationship Id="rId26" Target="../media/image79.png" Type="http://schemas.openxmlformats.org/officeDocument/2006/relationships/image"/><Relationship Id="rId27" Target="../media/image80.svg" Type="http://schemas.openxmlformats.org/officeDocument/2006/relationships/image"/><Relationship Id="rId28" Target="../media/image81.png" Type="http://schemas.openxmlformats.org/officeDocument/2006/relationships/image"/><Relationship Id="rId29" Target="../media/image82.svg" Type="http://schemas.openxmlformats.org/officeDocument/2006/relationships/image"/><Relationship Id="rId3" Target="../media/image5.png" Type="http://schemas.openxmlformats.org/officeDocument/2006/relationships/image"/><Relationship Id="rId30" Target="../media/image83.pn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uidai.gov.in/bn/about-aadhaar" TargetMode="External" Type="http://schemas.openxmlformats.org/officeDocument/2006/relationships/hyperlink"/><Relationship Id="rId11" Target="https://uidai.gov.in/bn/about-aadhaar" TargetMode="External" Type="http://schemas.openxmlformats.org/officeDocument/2006/relationships/hyperlink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https://www.perplexity.ai/hub/blog/pii-trace-detecting-personal-data-before-it-leaves-the-device" TargetMode="External" Type="http://schemas.openxmlformats.org/officeDocument/2006/relationships/hyperlink"/><Relationship Id="rId5" Target="https://openai.com/index/ai-agent-link-safety/" TargetMode="External" Type="http://schemas.openxmlformats.org/officeDocument/2006/relationships/hyperlink"/><Relationship Id="rId6" Target="https://www.incometax.gov.in" TargetMode="External" Type="http://schemas.openxmlformats.org/officeDocument/2006/relationships/hyperlink"/><Relationship Id="rId7" Target="https://uidai.gov.in/bn/about-aadhaar" TargetMode="External" Type="http://schemas.openxmlformats.org/officeDocument/2006/relationships/hyperlink"/><Relationship Id="rId8" Target="https://uidai.gov.in/bn/about-aadhaar" TargetMode="External" Type="http://schemas.openxmlformats.org/officeDocument/2006/relationships/hyperlink"/><Relationship Id="rId9" Target="https://uidai.gov.in/bn/about-aadhaar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png" Type="http://schemas.openxmlformats.org/officeDocument/2006/relationships/image"/><Relationship Id="rId12" Target="../media/image92.png" Type="http://schemas.openxmlformats.org/officeDocument/2006/relationships/image"/><Relationship Id="rId13" Target="../media/image93.png" Type="http://schemas.openxmlformats.org/officeDocument/2006/relationships/image"/><Relationship Id="rId14" Target="../media/image94.png" Type="http://schemas.openxmlformats.org/officeDocument/2006/relationships/image"/><Relationship Id="rId15" Target="../media/image95.png" Type="http://schemas.openxmlformats.org/officeDocument/2006/relationships/image"/><Relationship Id="rId16" Target="../media/image96.png" Type="http://schemas.openxmlformats.org/officeDocument/2006/relationships/image"/><Relationship Id="rId17" Target="../media/image97.png" Type="http://schemas.openxmlformats.org/officeDocument/2006/relationships/image"/><Relationship Id="rId18" Target="../media/image98.svg" Type="http://schemas.openxmlformats.org/officeDocument/2006/relationships/image"/><Relationship Id="rId19" Target="https://www.perplexity.ai/hub/blog/pii-trace-detecting-personal-data-before-it-leaves-the-device" TargetMode="External" Type="http://schemas.openxmlformats.org/officeDocument/2006/relationships/hyperlink"/><Relationship Id="rId2" Target="../media/image4.jpeg" Type="http://schemas.openxmlformats.org/officeDocument/2006/relationships/image"/><Relationship Id="rId20" Target="https://openai.com/index/ai-agent-link-safety/" TargetMode="External" Type="http://schemas.openxmlformats.org/officeDocument/2006/relationships/hyperlink"/><Relationship Id="rId21" Target="https://www.incometax.gov.in" TargetMode="External" Type="http://schemas.openxmlformats.org/officeDocument/2006/relationships/hyperlink"/><Relationship Id="rId22" Target="https://uidai.gov.in/bn/about-aadhaar" TargetMode="External" Type="http://schemas.openxmlformats.org/officeDocument/2006/relationships/hyperlink"/><Relationship Id="rId23" Target="https://scaledp-ts.stabrise.com" TargetMode="External" Type="http://schemas.openxmlformats.org/officeDocument/2006/relationships/hyperlink"/><Relationship Id="rId24" Target="https://developer.chrome.com/docs/web-platform/webgpu/overview" TargetMode="External" Type="http://schemas.openxmlformats.org/officeDocument/2006/relationships/hyperlink"/><Relationship Id="rId25" Target="https://microsoft.github.io/presidio/" TargetMode="External" Type="http://schemas.openxmlformats.org/officeDocument/2006/relationships/hyperlink"/><Relationship Id="rId26" Target="https://blog.cloudflare.com/content-independence-day-ai-options/" TargetMode="External" Type="http://schemas.openxmlformats.org/officeDocument/2006/relationships/hyperlink"/><Relationship Id="rId27" Target="https://huggingface.co/datasets/piim-benchmark/piim" TargetMode="External" Type="http://schemas.openxmlformats.org/officeDocument/2006/relationships/hyperlink"/><Relationship Id="rId3" Target="../media/image5.png" Type="http://schemas.openxmlformats.org/officeDocument/2006/relationships/image"/><Relationship Id="rId4" Target="../media/image84.pn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87.png" Type="http://schemas.openxmlformats.org/officeDocument/2006/relationships/image"/><Relationship Id="rId8" Target="../media/image88.png" Type="http://schemas.openxmlformats.org/officeDocument/2006/relationships/image"/><Relationship Id="rId9" Target="../media/image8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8369" y="3131820"/>
            <a:ext cx="8703945" cy="6991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Software/Hardware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168651"/>
            <a:ext cx="18288000" cy="1764402"/>
            <a:chOff x="0" y="0"/>
            <a:chExt cx="24384000" cy="23525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352536"/>
            </a:xfrm>
            <a:custGeom>
              <a:avLst/>
              <a:gdLst/>
              <a:ahLst/>
              <a:cxnLst/>
              <a:rect r="r" b="b" t="t" l="l"/>
              <a:pathLst>
                <a:path h="23525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52536"/>
                  </a:lnTo>
                  <a:lnTo>
                    <a:pt x="0" y="23525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180" r="10000" b="-1303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4384000" cy="2343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599"/>
                </a:lnSpc>
              </a:pPr>
              <a:r>
                <a:rPr lang="en-US" sz="7999">
                  <a:solidFill>
                    <a:srgbClr val="1F497D"/>
                  </a:solidFill>
                  <a:latin typeface="Oilvare Base"/>
                  <a:ea typeface="Oilvare Base"/>
                  <a:cs typeface="Oilvare Base"/>
                  <a:sym typeface="Oilvare Base"/>
                </a:rPr>
                <a:t>PRIV</a:t>
              </a:r>
              <a:r>
                <a:rPr lang="en-US" sz="7999">
                  <a:solidFill>
                    <a:srgbClr val="5170FF"/>
                  </a:solidFill>
                  <a:latin typeface="Oilvare Base"/>
                  <a:ea typeface="Oilvare Base"/>
                  <a:cs typeface="Oilvare Base"/>
                  <a:sym typeface="Oilvare Base"/>
                </a:rPr>
                <a:t>YSE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5054547" y="1945640"/>
            <a:ext cx="7500326" cy="690559"/>
          </a:xfrm>
          <a:custGeom>
            <a:avLst/>
            <a:gdLst/>
            <a:ahLst/>
            <a:cxnLst/>
            <a:rect r="r" b="b" t="t" l="l"/>
            <a:pathLst>
              <a:path h="690559" w="7500326">
                <a:moveTo>
                  <a:pt x="0" y="0"/>
                </a:moveTo>
                <a:lnTo>
                  <a:pt x="7500325" y="0"/>
                </a:lnTo>
                <a:lnTo>
                  <a:pt x="7500325" y="690559"/>
                </a:lnTo>
                <a:lnTo>
                  <a:pt x="0" y="690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7272" r="0" b="-5365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75612" y="2805270"/>
            <a:ext cx="3744216" cy="4680270"/>
          </a:xfrm>
          <a:custGeom>
            <a:avLst/>
            <a:gdLst/>
            <a:ahLst/>
            <a:cxnLst/>
            <a:rect r="r" b="b" t="t" l="l"/>
            <a:pathLst>
              <a:path h="4680270" w="3744216">
                <a:moveTo>
                  <a:pt x="0" y="0"/>
                </a:moveTo>
                <a:lnTo>
                  <a:pt x="3744216" y="0"/>
                </a:lnTo>
                <a:lnTo>
                  <a:pt x="3744216" y="4680270"/>
                </a:lnTo>
                <a:lnTo>
                  <a:pt x="0" y="46802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27326" y="3312474"/>
            <a:ext cx="2440789" cy="2687931"/>
          </a:xfrm>
          <a:custGeom>
            <a:avLst/>
            <a:gdLst/>
            <a:ahLst/>
            <a:cxnLst/>
            <a:rect r="r" b="b" t="t" l="l"/>
            <a:pathLst>
              <a:path h="2687931" w="2440789">
                <a:moveTo>
                  <a:pt x="0" y="0"/>
                </a:moveTo>
                <a:lnTo>
                  <a:pt x="2440788" y="0"/>
                </a:lnTo>
                <a:lnTo>
                  <a:pt x="2440788" y="2687932"/>
                </a:lnTo>
                <a:lnTo>
                  <a:pt x="0" y="2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5400000">
            <a:off x="6896611" y="329408"/>
            <a:ext cx="4680270" cy="9631993"/>
          </a:xfrm>
          <a:custGeom>
            <a:avLst/>
            <a:gdLst/>
            <a:ahLst/>
            <a:cxnLst/>
            <a:rect r="r" b="b" t="t" l="l"/>
            <a:pathLst>
              <a:path h="9631993" w="4680270">
                <a:moveTo>
                  <a:pt x="0" y="0"/>
                </a:moveTo>
                <a:lnTo>
                  <a:pt x="4680270" y="0"/>
                </a:lnTo>
                <a:lnTo>
                  <a:pt x="4680270" y="9631993"/>
                </a:lnTo>
                <a:lnTo>
                  <a:pt x="0" y="96319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4162" t="-20800" r="-54723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569157" y="3683949"/>
            <a:ext cx="2130288" cy="3268606"/>
          </a:xfrm>
          <a:custGeom>
            <a:avLst/>
            <a:gdLst/>
            <a:ahLst/>
            <a:cxnLst/>
            <a:rect r="r" b="b" t="t" l="l"/>
            <a:pathLst>
              <a:path h="3268606" w="2130288">
                <a:moveTo>
                  <a:pt x="0" y="0"/>
                </a:moveTo>
                <a:lnTo>
                  <a:pt x="2130288" y="0"/>
                </a:lnTo>
                <a:lnTo>
                  <a:pt x="2130288" y="3268606"/>
                </a:lnTo>
                <a:lnTo>
                  <a:pt x="0" y="32686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2134" r="-75761" b="-21054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972300" y="3683949"/>
            <a:ext cx="2130288" cy="3268606"/>
          </a:xfrm>
          <a:custGeom>
            <a:avLst/>
            <a:gdLst/>
            <a:ahLst/>
            <a:cxnLst/>
            <a:rect r="r" b="b" t="t" l="l"/>
            <a:pathLst>
              <a:path h="3268606" w="2130288">
                <a:moveTo>
                  <a:pt x="0" y="0"/>
                </a:moveTo>
                <a:lnTo>
                  <a:pt x="2130288" y="0"/>
                </a:lnTo>
                <a:lnTo>
                  <a:pt x="2130288" y="3268606"/>
                </a:lnTo>
                <a:lnTo>
                  <a:pt x="0" y="32686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2134" r="-75761" b="-21054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375443" y="3683949"/>
            <a:ext cx="2130288" cy="3268606"/>
          </a:xfrm>
          <a:custGeom>
            <a:avLst/>
            <a:gdLst/>
            <a:ahLst/>
            <a:cxnLst/>
            <a:rect r="r" b="b" t="t" l="l"/>
            <a:pathLst>
              <a:path h="3268606" w="2130288">
                <a:moveTo>
                  <a:pt x="0" y="0"/>
                </a:moveTo>
                <a:lnTo>
                  <a:pt x="2130288" y="0"/>
                </a:lnTo>
                <a:lnTo>
                  <a:pt x="2130288" y="3268606"/>
                </a:lnTo>
                <a:lnTo>
                  <a:pt x="0" y="32686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2134" r="-75761" b="-21054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778587" y="3683949"/>
            <a:ext cx="2130288" cy="3268606"/>
          </a:xfrm>
          <a:custGeom>
            <a:avLst/>
            <a:gdLst/>
            <a:ahLst/>
            <a:cxnLst/>
            <a:rect r="r" b="b" t="t" l="l"/>
            <a:pathLst>
              <a:path h="3268606" w="2130288">
                <a:moveTo>
                  <a:pt x="0" y="0"/>
                </a:moveTo>
                <a:lnTo>
                  <a:pt x="2130288" y="0"/>
                </a:lnTo>
                <a:lnTo>
                  <a:pt x="2130288" y="3268606"/>
                </a:lnTo>
                <a:lnTo>
                  <a:pt x="0" y="32686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22134" r="-75761" b="-21054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013251" y="4868371"/>
            <a:ext cx="1508993" cy="1177014"/>
          </a:xfrm>
          <a:custGeom>
            <a:avLst/>
            <a:gdLst/>
            <a:ahLst/>
            <a:cxnLst/>
            <a:rect r="r" b="b" t="t" l="l"/>
            <a:pathLst>
              <a:path h="1177014" w="1508993">
                <a:moveTo>
                  <a:pt x="0" y="0"/>
                </a:moveTo>
                <a:lnTo>
                  <a:pt x="1508993" y="0"/>
                </a:lnTo>
                <a:lnTo>
                  <a:pt x="1508993" y="1177015"/>
                </a:lnTo>
                <a:lnTo>
                  <a:pt x="0" y="11770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787753" y="3855399"/>
            <a:ext cx="450997" cy="450997"/>
          </a:xfrm>
          <a:custGeom>
            <a:avLst/>
            <a:gdLst/>
            <a:ahLst/>
            <a:cxnLst/>
            <a:rect r="r" b="b" t="t" l="l"/>
            <a:pathLst>
              <a:path h="450997" w="450997">
                <a:moveTo>
                  <a:pt x="0" y="0"/>
                </a:moveTo>
                <a:lnTo>
                  <a:pt x="450997" y="0"/>
                </a:lnTo>
                <a:lnTo>
                  <a:pt x="450997" y="450997"/>
                </a:lnTo>
                <a:lnTo>
                  <a:pt x="0" y="4509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185220" y="3855399"/>
            <a:ext cx="460522" cy="460522"/>
          </a:xfrm>
          <a:custGeom>
            <a:avLst/>
            <a:gdLst/>
            <a:ahLst/>
            <a:cxnLst/>
            <a:rect r="r" b="b" t="t" l="l"/>
            <a:pathLst>
              <a:path h="460522" w="460522">
                <a:moveTo>
                  <a:pt x="0" y="0"/>
                </a:moveTo>
                <a:lnTo>
                  <a:pt x="460522" y="0"/>
                </a:lnTo>
                <a:lnTo>
                  <a:pt x="460522" y="460522"/>
                </a:lnTo>
                <a:lnTo>
                  <a:pt x="0" y="46052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588363" y="3855399"/>
            <a:ext cx="512124" cy="512124"/>
          </a:xfrm>
          <a:custGeom>
            <a:avLst/>
            <a:gdLst/>
            <a:ahLst/>
            <a:cxnLst/>
            <a:rect r="r" b="b" t="t" l="l"/>
            <a:pathLst>
              <a:path h="512124" w="512124">
                <a:moveTo>
                  <a:pt x="0" y="0"/>
                </a:moveTo>
                <a:lnTo>
                  <a:pt x="512124" y="0"/>
                </a:lnTo>
                <a:lnTo>
                  <a:pt x="512124" y="512125"/>
                </a:lnTo>
                <a:lnTo>
                  <a:pt x="0" y="51212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991506" y="3855399"/>
            <a:ext cx="512124" cy="512124"/>
          </a:xfrm>
          <a:custGeom>
            <a:avLst/>
            <a:gdLst/>
            <a:ahLst/>
            <a:cxnLst/>
            <a:rect r="r" b="b" t="t" l="l"/>
            <a:pathLst>
              <a:path h="512124" w="512124">
                <a:moveTo>
                  <a:pt x="0" y="0"/>
                </a:moveTo>
                <a:lnTo>
                  <a:pt x="512125" y="0"/>
                </a:lnTo>
                <a:lnTo>
                  <a:pt x="512125" y="512125"/>
                </a:lnTo>
                <a:lnTo>
                  <a:pt x="0" y="51212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972300" y="4723812"/>
            <a:ext cx="342806" cy="383023"/>
          </a:xfrm>
          <a:custGeom>
            <a:avLst/>
            <a:gdLst/>
            <a:ahLst/>
            <a:cxnLst/>
            <a:rect r="r" b="b" t="t" l="l"/>
            <a:pathLst>
              <a:path h="383023" w="342806">
                <a:moveTo>
                  <a:pt x="0" y="0"/>
                </a:moveTo>
                <a:lnTo>
                  <a:pt x="342806" y="0"/>
                </a:lnTo>
                <a:lnTo>
                  <a:pt x="342806" y="383023"/>
                </a:lnTo>
                <a:lnTo>
                  <a:pt x="0" y="38302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016151" y="5287810"/>
            <a:ext cx="338137" cy="338137"/>
          </a:xfrm>
          <a:custGeom>
            <a:avLst/>
            <a:gdLst/>
            <a:ahLst/>
            <a:cxnLst/>
            <a:rect r="r" b="b" t="t" l="l"/>
            <a:pathLst>
              <a:path h="338137" w="338137">
                <a:moveTo>
                  <a:pt x="0" y="0"/>
                </a:moveTo>
                <a:lnTo>
                  <a:pt x="338137" y="0"/>
                </a:lnTo>
                <a:lnTo>
                  <a:pt x="338137" y="338137"/>
                </a:lnTo>
                <a:lnTo>
                  <a:pt x="0" y="33813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992918" y="5863453"/>
            <a:ext cx="384602" cy="384602"/>
          </a:xfrm>
          <a:custGeom>
            <a:avLst/>
            <a:gdLst/>
            <a:ahLst/>
            <a:cxnLst/>
            <a:rect r="r" b="b" t="t" l="l"/>
            <a:pathLst>
              <a:path h="384602" w="384602">
                <a:moveTo>
                  <a:pt x="0" y="0"/>
                </a:moveTo>
                <a:lnTo>
                  <a:pt x="384603" y="0"/>
                </a:lnTo>
                <a:lnTo>
                  <a:pt x="384603" y="384603"/>
                </a:lnTo>
                <a:lnTo>
                  <a:pt x="0" y="384603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false" rot="0">
            <a:off x="7016151" y="6425897"/>
            <a:ext cx="378524" cy="374739"/>
          </a:xfrm>
          <a:custGeom>
            <a:avLst/>
            <a:gdLst/>
            <a:ahLst/>
            <a:cxnLst/>
            <a:rect r="r" b="b" t="t" l="l"/>
            <a:pathLst>
              <a:path h="374739" w="378524">
                <a:moveTo>
                  <a:pt x="378524" y="0"/>
                </a:moveTo>
                <a:lnTo>
                  <a:pt x="0" y="0"/>
                </a:lnTo>
                <a:lnTo>
                  <a:pt x="0" y="374739"/>
                </a:lnTo>
                <a:lnTo>
                  <a:pt x="378524" y="374739"/>
                </a:lnTo>
                <a:lnTo>
                  <a:pt x="378524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622842" y="4892184"/>
            <a:ext cx="319551" cy="426068"/>
          </a:xfrm>
          <a:custGeom>
            <a:avLst/>
            <a:gdLst/>
            <a:ahLst/>
            <a:cxnLst/>
            <a:rect r="r" b="b" t="t" l="l"/>
            <a:pathLst>
              <a:path h="426068" w="319551">
                <a:moveTo>
                  <a:pt x="0" y="0"/>
                </a:moveTo>
                <a:lnTo>
                  <a:pt x="319551" y="0"/>
                </a:lnTo>
                <a:lnTo>
                  <a:pt x="319551" y="426068"/>
                </a:lnTo>
                <a:lnTo>
                  <a:pt x="0" y="426068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283124" y="5511347"/>
            <a:ext cx="314927" cy="314927"/>
          </a:xfrm>
          <a:custGeom>
            <a:avLst/>
            <a:gdLst/>
            <a:ahLst/>
            <a:cxnLst/>
            <a:rect r="r" b="b" t="t" l="l"/>
            <a:pathLst>
              <a:path h="314927" w="314927">
                <a:moveTo>
                  <a:pt x="0" y="0"/>
                </a:moveTo>
                <a:lnTo>
                  <a:pt x="314927" y="0"/>
                </a:lnTo>
                <a:lnTo>
                  <a:pt x="314927" y="314927"/>
                </a:lnTo>
                <a:lnTo>
                  <a:pt x="0" y="31492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551071" y="6088320"/>
            <a:ext cx="430035" cy="337578"/>
          </a:xfrm>
          <a:custGeom>
            <a:avLst/>
            <a:gdLst/>
            <a:ahLst/>
            <a:cxnLst/>
            <a:rect r="r" b="b" t="t" l="l"/>
            <a:pathLst>
              <a:path h="337578" w="430035">
                <a:moveTo>
                  <a:pt x="0" y="0"/>
                </a:moveTo>
                <a:lnTo>
                  <a:pt x="430035" y="0"/>
                </a:lnTo>
                <a:lnTo>
                  <a:pt x="430035" y="337577"/>
                </a:lnTo>
                <a:lnTo>
                  <a:pt x="0" y="337577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405397" y="5095287"/>
            <a:ext cx="876667" cy="1019381"/>
          </a:xfrm>
          <a:custGeom>
            <a:avLst/>
            <a:gdLst/>
            <a:ahLst/>
            <a:cxnLst/>
            <a:rect r="r" b="b" t="t" l="l"/>
            <a:pathLst>
              <a:path h="1019381" w="876667">
                <a:moveTo>
                  <a:pt x="0" y="0"/>
                </a:moveTo>
                <a:lnTo>
                  <a:pt x="876668" y="0"/>
                </a:lnTo>
                <a:lnTo>
                  <a:pt x="876668" y="1019381"/>
                </a:lnTo>
                <a:lnTo>
                  <a:pt x="0" y="1019381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5400000">
            <a:off x="6359610" y="1706317"/>
            <a:ext cx="1809134" cy="13577131"/>
          </a:xfrm>
          <a:custGeom>
            <a:avLst/>
            <a:gdLst/>
            <a:ahLst/>
            <a:cxnLst/>
            <a:rect r="r" b="b" t="t" l="l"/>
            <a:pathLst>
              <a:path h="13577131" w="1809134">
                <a:moveTo>
                  <a:pt x="0" y="0"/>
                </a:moveTo>
                <a:lnTo>
                  <a:pt x="1809134" y="0"/>
                </a:lnTo>
                <a:lnTo>
                  <a:pt x="1809134" y="13577130"/>
                </a:lnTo>
                <a:lnTo>
                  <a:pt x="0" y="13577130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-251462" t="0" r="-248919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475612" y="7590315"/>
            <a:ext cx="435135" cy="470417"/>
          </a:xfrm>
          <a:custGeom>
            <a:avLst/>
            <a:gdLst/>
            <a:ahLst/>
            <a:cxnLst/>
            <a:rect r="r" b="b" t="t" l="l"/>
            <a:pathLst>
              <a:path h="470417" w="435135">
                <a:moveTo>
                  <a:pt x="0" y="0"/>
                </a:moveTo>
                <a:lnTo>
                  <a:pt x="435135" y="0"/>
                </a:lnTo>
                <a:lnTo>
                  <a:pt x="435135" y="470417"/>
                </a:lnTo>
                <a:lnTo>
                  <a:pt x="0" y="470417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5400000">
            <a:off x="1625974" y="6957995"/>
            <a:ext cx="1291092" cy="3591816"/>
          </a:xfrm>
          <a:custGeom>
            <a:avLst/>
            <a:gdLst/>
            <a:ahLst/>
            <a:cxnLst/>
            <a:rect r="r" b="b" t="t" l="l"/>
            <a:pathLst>
              <a:path h="3591816" w="1291092">
                <a:moveTo>
                  <a:pt x="0" y="0"/>
                </a:moveTo>
                <a:lnTo>
                  <a:pt x="1291092" y="0"/>
                </a:lnTo>
                <a:lnTo>
                  <a:pt x="1291092" y="3591816"/>
                </a:lnTo>
                <a:lnTo>
                  <a:pt x="0" y="3591816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-380679" t="-278001" r="-36060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5400000">
            <a:off x="4988755" y="6957995"/>
            <a:ext cx="1291092" cy="3591816"/>
          </a:xfrm>
          <a:custGeom>
            <a:avLst/>
            <a:gdLst/>
            <a:ahLst/>
            <a:cxnLst/>
            <a:rect r="r" b="b" t="t" l="l"/>
            <a:pathLst>
              <a:path h="3591816" w="1291092">
                <a:moveTo>
                  <a:pt x="0" y="0"/>
                </a:moveTo>
                <a:lnTo>
                  <a:pt x="1291092" y="0"/>
                </a:lnTo>
                <a:lnTo>
                  <a:pt x="1291092" y="3591816"/>
                </a:lnTo>
                <a:lnTo>
                  <a:pt x="0" y="3591816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-380679" t="-278001" r="-36060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5400000">
            <a:off x="8355775" y="6957995"/>
            <a:ext cx="1291092" cy="3591816"/>
          </a:xfrm>
          <a:custGeom>
            <a:avLst/>
            <a:gdLst/>
            <a:ahLst/>
            <a:cxnLst/>
            <a:rect r="r" b="b" t="t" l="l"/>
            <a:pathLst>
              <a:path h="3591816" w="1291092">
                <a:moveTo>
                  <a:pt x="0" y="0"/>
                </a:moveTo>
                <a:lnTo>
                  <a:pt x="1291092" y="0"/>
                </a:lnTo>
                <a:lnTo>
                  <a:pt x="1291092" y="3591816"/>
                </a:lnTo>
                <a:lnTo>
                  <a:pt x="0" y="3591816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-380679" t="-278001" r="-36060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5400000">
            <a:off x="11590950" y="6987704"/>
            <a:ext cx="1291092" cy="3591816"/>
          </a:xfrm>
          <a:custGeom>
            <a:avLst/>
            <a:gdLst/>
            <a:ahLst/>
            <a:cxnLst/>
            <a:rect r="r" b="b" t="t" l="l"/>
            <a:pathLst>
              <a:path h="3591816" w="1291092">
                <a:moveTo>
                  <a:pt x="0" y="0"/>
                </a:moveTo>
                <a:lnTo>
                  <a:pt x="1291092" y="0"/>
                </a:lnTo>
                <a:lnTo>
                  <a:pt x="1291092" y="3591816"/>
                </a:lnTo>
                <a:lnTo>
                  <a:pt x="0" y="3591816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-380679" t="-278001" r="-36060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584232" y="8342790"/>
            <a:ext cx="653031" cy="796379"/>
          </a:xfrm>
          <a:custGeom>
            <a:avLst/>
            <a:gdLst/>
            <a:ahLst/>
            <a:cxnLst/>
            <a:rect r="r" b="b" t="t" l="l"/>
            <a:pathLst>
              <a:path h="796379" w="653031">
                <a:moveTo>
                  <a:pt x="0" y="0"/>
                </a:moveTo>
                <a:lnTo>
                  <a:pt x="653031" y="0"/>
                </a:lnTo>
                <a:lnTo>
                  <a:pt x="653031" y="796379"/>
                </a:lnTo>
                <a:lnTo>
                  <a:pt x="0" y="796379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true" flipV="false" rot="0">
            <a:off x="3950066" y="8438038"/>
            <a:ext cx="680019" cy="719597"/>
          </a:xfrm>
          <a:custGeom>
            <a:avLst/>
            <a:gdLst/>
            <a:ahLst/>
            <a:cxnLst/>
            <a:rect r="r" b="b" t="t" l="l"/>
            <a:pathLst>
              <a:path h="719597" w="680019">
                <a:moveTo>
                  <a:pt x="680019" y="0"/>
                </a:moveTo>
                <a:lnTo>
                  <a:pt x="0" y="0"/>
                </a:lnTo>
                <a:lnTo>
                  <a:pt x="0" y="719597"/>
                </a:lnTo>
                <a:lnTo>
                  <a:pt x="680019" y="719597"/>
                </a:lnTo>
                <a:lnTo>
                  <a:pt x="680019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7319533" y="8342790"/>
            <a:ext cx="652416" cy="881644"/>
          </a:xfrm>
          <a:custGeom>
            <a:avLst/>
            <a:gdLst/>
            <a:ahLst/>
            <a:cxnLst/>
            <a:rect r="r" b="b" t="t" l="l"/>
            <a:pathLst>
              <a:path h="881644" w="652416">
                <a:moveTo>
                  <a:pt x="0" y="0"/>
                </a:moveTo>
                <a:lnTo>
                  <a:pt x="652417" y="0"/>
                </a:lnTo>
                <a:lnTo>
                  <a:pt x="652417" y="881644"/>
                </a:lnTo>
                <a:lnTo>
                  <a:pt x="0" y="881644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0598051" y="8353217"/>
            <a:ext cx="886441" cy="886441"/>
          </a:xfrm>
          <a:custGeom>
            <a:avLst/>
            <a:gdLst/>
            <a:ahLst/>
            <a:cxnLst/>
            <a:rect r="r" b="b" t="t" l="l"/>
            <a:pathLst>
              <a:path h="886441" w="886441">
                <a:moveTo>
                  <a:pt x="0" y="0"/>
                </a:moveTo>
                <a:lnTo>
                  <a:pt x="886441" y="0"/>
                </a:lnTo>
                <a:lnTo>
                  <a:pt x="886441" y="886441"/>
                </a:lnTo>
                <a:lnTo>
                  <a:pt x="0" y="886441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5400000">
            <a:off x="12550212" y="4422100"/>
            <a:ext cx="6585270" cy="3351611"/>
          </a:xfrm>
          <a:custGeom>
            <a:avLst/>
            <a:gdLst/>
            <a:ahLst/>
            <a:cxnLst/>
            <a:rect r="r" b="b" t="t" l="l"/>
            <a:pathLst>
              <a:path h="3351611" w="6585270">
                <a:moveTo>
                  <a:pt x="0" y="0"/>
                </a:moveTo>
                <a:lnTo>
                  <a:pt x="6585271" y="0"/>
                </a:lnTo>
                <a:lnTo>
                  <a:pt x="6585271" y="3351610"/>
                </a:lnTo>
                <a:lnTo>
                  <a:pt x="0" y="3351610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 l="-30381" t="-78595" r="-10970" b="-168565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4531031" y="2983373"/>
            <a:ext cx="580364" cy="562953"/>
          </a:xfrm>
          <a:custGeom>
            <a:avLst/>
            <a:gdLst/>
            <a:ahLst/>
            <a:cxnLst/>
            <a:rect r="r" b="b" t="t" l="l"/>
            <a:pathLst>
              <a:path h="562953" w="580364">
                <a:moveTo>
                  <a:pt x="0" y="0"/>
                </a:moveTo>
                <a:lnTo>
                  <a:pt x="580364" y="0"/>
                </a:lnTo>
                <a:lnTo>
                  <a:pt x="580364" y="562953"/>
                </a:lnTo>
                <a:lnTo>
                  <a:pt x="0" y="562953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0" y="1427445"/>
            <a:ext cx="182880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P</a:t>
            </a:r>
            <a:r>
              <a:rPr lang="en-US" sz="22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rivacy-First Visual Perception for Lightweight Browser Agents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-339291" y="2109945"/>
            <a:ext cx="182880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See Loc</a:t>
            </a:r>
            <a:r>
              <a:rPr lang="en-US" sz="2299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ally. Sanitize Privately. Act Intelligently.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75612" y="2960049"/>
            <a:ext cx="374421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THE PRIVACY GAP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01469" y="6000406"/>
            <a:ext cx="3092503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TRADITIONAL VISUAL BROWSER AGENTS SEND RAW DATA TO AI SYSTEMS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01469" y="6676724"/>
            <a:ext cx="309250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RAW SCREENSHOTS EXPOSE SENSITIVE INFORMATION TO AI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420749" y="2979099"/>
            <a:ext cx="374421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PROPOSED SOLUTION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164966" y="2940999"/>
            <a:ext cx="5743909" cy="37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PRIVYSE ENABLES SAFE BROWSER AUTOMATION BY DETECTING AND SANITIZING SENSITIVE DATA LOCALLY BEFORE AI PROCESSING.</a:t>
            </a:r>
          </a:p>
          <a:p>
            <a:pPr algn="l">
              <a:lnSpc>
                <a:spcPts val="240"/>
              </a:lnSpc>
              <a:spcBef>
                <a:spcPct val="0"/>
              </a:spcBef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4630085" y="4396884"/>
            <a:ext cx="227532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LOCAL SCREEN PERCEPTION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630085" y="6248056"/>
            <a:ext cx="2275326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UNDERSTANDS THE CURRENT SCREEN LOCALLY.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972300" y="4396884"/>
            <a:ext cx="227532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PRIVACY FILTER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452489" y="4768359"/>
            <a:ext cx="1691511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  <a:spcBef>
                <a:spcPct val="0"/>
              </a:spcBef>
            </a:pPr>
            <a:r>
              <a:rPr lang="en-US" sz="1524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SENSITIVE INFO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492400" y="5202085"/>
            <a:ext cx="174493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  <a:spcBef>
                <a:spcPct val="0"/>
              </a:spcBef>
            </a:pPr>
            <a:r>
              <a:rPr lang="en-US" sz="1524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FACES AND VISUAL PII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491815" y="5762281"/>
            <a:ext cx="174493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  <a:spcBef>
                <a:spcPct val="0"/>
              </a:spcBef>
            </a:pPr>
            <a:r>
              <a:rPr lang="en-US" sz="1524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DYNAMIC REDACTION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491815" y="6390931"/>
            <a:ext cx="174493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9"/>
              </a:lnSpc>
            </a:pPr>
            <a:r>
              <a:rPr lang="en-US" sz="1524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ANYNONMOUS </a:t>
            </a:r>
          </a:p>
          <a:p>
            <a:pPr algn="l">
              <a:lnSpc>
                <a:spcPts val="1829"/>
              </a:lnSpc>
              <a:spcBef>
                <a:spcPct val="0"/>
              </a:spcBef>
            </a:pPr>
            <a:r>
              <a:rPr lang="en-US" sz="1524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TOKENS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375443" y="4482609"/>
            <a:ext cx="227532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ZERP LEAK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685006" y="5035059"/>
            <a:ext cx="227532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DOM PII SCAN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095406" y="5984617"/>
            <a:ext cx="136633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SANITISED SCREENSHOT OCR SCAN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879369" y="4514262"/>
            <a:ext cx="195996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SAFE BROWSER ACTION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948915" y="6276593"/>
            <a:ext cx="195996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sz="1200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EXECUTE ACTIONS</a:t>
            </a:r>
          </a:p>
          <a:p>
            <a:pPr algn="ctr">
              <a:lnSpc>
                <a:spcPts val="120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(CLICK, TYPE, SCROLL, NAVIGATE)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01469" y="7708307"/>
            <a:ext cx="4605601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INNOVATION &amp; UNIQUENESS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89869" y="8398248"/>
            <a:ext cx="227824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SANITIZE BEFORE AI</a:t>
            </a:r>
          </a:p>
          <a:p>
            <a:pPr algn="ctr">
              <a:lnSpc>
                <a:spcPts val="192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REDACTS DATA ON-DEVICE.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569157" y="8321650"/>
            <a:ext cx="227824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STABLE PII TOKENS</a:t>
            </a:r>
          </a:p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MAINTAINS CONTEXT WITHOUT EXPOSING DATA.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003331" y="8238015"/>
            <a:ext cx="1995981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2"/>
              </a:lnSpc>
            </a:pPr>
            <a:r>
              <a:rPr lang="en-US" sz="1501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FAIL-CLOSED DESIGN</a:t>
            </a:r>
          </a:p>
          <a:p>
            <a:pPr algn="ctr">
              <a:lnSpc>
                <a:spcPts val="1802"/>
              </a:lnSpc>
              <a:spcBef>
                <a:spcPct val="0"/>
              </a:spcBef>
            </a:pPr>
            <a:r>
              <a:rPr lang="en-US" sz="1501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IF PRIVACY CHECKS FAIL, NOTHING IS SENT.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650769" y="8331111"/>
            <a:ext cx="199598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2"/>
              </a:lnSpc>
            </a:pPr>
            <a:r>
              <a:rPr lang="en-US" sz="1501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ELEMENT-ID ACTIONS</a:t>
            </a:r>
          </a:p>
          <a:p>
            <a:pPr algn="ctr">
              <a:lnSpc>
                <a:spcPts val="1802"/>
              </a:lnSpc>
              <a:spcBef>
                <a:spcPct val="0"/>
              </a:spcBef>
            </a:pPr>
            <a:r>
              <a:rPr lang="en-US" sz="1501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ACTS ON RELIABLE UI ELEMENTS.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4909992" y="2960049"/>
            <a:ext cx="240863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Intro Rust"/>
                <a:ea typeface="Intro Rust"/>
                <a:cs typeface="Intro Rust"/>
                <a:sym typeface="Intro Rust"/>
              </a:rPr>
              <a:t>PROTOTYPE VALIDATION</a:t>
            </a:r>
          </a:p>
        </p:txBody>
      </p:sp>
      <p:sp>
        <p:nvSpPr>
          <p:cNvPr name="Freeform 76" id="76"/>
          <p:cNvSpPr/>
          <p:nvPr/>
        </p:nvSpPr>
        <p:spPr>
          <a:xfrm flipH="false" flipV="false" rot="5400000">
            <a:off x="14895058" y="3045215"/>
            <a:ext cx="1895579" cy="3351611"/>
          </a:xfrm>
          <a:custGeom>
            <a:avLst/>
            <a:gdLst/>
            <a:ahLst/>
            <a:cxnLst/>
            <a:rect r="r" b="b" t="t" l="l"/>
            <a:pathLst>
              <a:path h="3351611" w="1895579">
                <a:moveTo>
                  <a:pt x="0" y="0"/>
                </a:moveTo>
                <a:lnTo>
                  <a:pt x="1895579" y="0"/>
                </a:lnTo>
                <a:lnTo>
                  <a:pt x="1895579" y="3351611"/>
                </a:lnTo>
                <a:lnTo>
                  <a:pt x="0" y="3351611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 l="-244852" t="-78595" r="-146205" b="-168565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5400000">
            <a:off x="14895058" y="5043790"/>
            <a:ext cx="1895579" cy="3351611"/>
          </a:xfrm>
          <a:custGeom>
            <a:avLst/>
            <a:gdLst/>
            <a:ahLst/>
            <a:cxnLst/>
            <a:rect r="r" b="b" t="t" l="l"/>
            <a:pathLst>
              <a:path h="3351611" w="1895579">
                <a:moveTo>
                  <a:pt x="0" y="0"/>
                </a:moveTo>
                <a:lnTo>
                  <a:pt x="1895579" y="0"/>
                </a:lnTo>
                <a:lnTo>
                  <a:pt x="1895579" y="3351611"/>
                </a:lnTo>
                <a:lnTo>
                  <a:pt x="0" y="3351611"/>
                </a:lnTo>
                <a:lnTo>
                  <a:pt x="0" y="0"/>
                </a:lnTo>
                <a:close/>
              </a:path>
            </a:pathLst>
          </a:custGeom>
          <a:blipFill>
            <a:blip r:embed="rId53"/>
            <a:stretch>
              <a:fillRect l="-244852" t="-78595" r="-146205" b="-168565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5400000">
            <a:off x="14895058" y="6757524"/>
            <a:ext cx="1895579" cy="3351611"/>
          </a:xfrm>
          <a:custGeom>
            <a:avLst/>
            <a:gdLst/>
            <a:ahLst/>
            <a:cxnLst/>
            <a:rect r="r" b="b" t="t" l="l"/>
            <a:pathLst>
              <a:path h="3351611" w="1895579">
                <a:moveTo>
                  <a:pt x="0" y="0"/>
                </a:moveTo>
                <a:lnTo>
                  <a:pt x="1895579" y="0"/>
                </a:lnTo>
                <a:lnTo>
                  <a:pt x="1895579" y="3351611"/>
                </a:lnTo>
                <a:lnTo>
                  <a:pt x="0" y="3351611"/>
                </a:lnTo>
                <a:lnTo>
                  <a:pt x="0" y="0"/>
                </a:lnTo>
                <a:close/>
              </a:path>
            </a:pathLst>
          </a:custGeom>
          <a:blipFill>
            <a:blip r:embed="rId54"/>
            <a:stretch>
              <a:fillRect l="-244852" t="-78595" r="-146205" b="-168565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519" y="-5825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4E6D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</a:t>
              </a:r>
              <a:r>
                <a:rPr lang="en-US" sz="5400" b="true">
                  <a:solidFill>
                    <a:srgbClr val="8064A2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7731" y="174450"/>
            <a:ext cx="1915887" cy="1249099"/>
            <a:chOff x="0" y="0"/>
            <a:chExt cx="2554516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342870" y="1835601"/>
            <a:ext cx="7315200" cy="1316736"/>
          </a:xfrm>
          <a:custGeom>
            <a:avLst/>
            <a:gdLst/>
            <a:ahLst/>
            <a:cxnLst/>
            <a:rect r="r" b="b" t="t" l="l"/>
            <a:pathLst>
              <a:path h="1316736" w="7315200">
                <a:moveTo>
                  <a:pt x="0" y="0"/>
                </a:moveTo>
                <a:lnTo>
                  <a:pt x="7315200" y="0"/>
                </a:lnTo>
                <a:lnTo>
                  <a:pt x="7315200" y="1316736"/>
                </a:lnTo>
                <a:lnTo>
                  <a:pt x="0" y="1316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54409" y="1971000"/>
            <a:ext cx="971743" cy="971743"/>
          </a:xfrm>
          <a:custGeom>
            <a:avLst/>
            <a:gdLst/>
            <a:ahLst/>
            <a:cxnLst/>
            <a:rect r="r" b="b" t="t" l="l"/>
            <a:pathLst>
              <a:path h="971743" w="971743">
                <a:moveTo>
                  <a:pt x="0" y="0"/>
                </a:moveTo>
                <a:lnTo>
                  <a:pt x="971742" y="0"/>
                </a:lnTo>
                <a:lnTo>
                  <a:pt x="971742" y="971742"/>
                </a:lnTo>
                <a:lnTo>
                  <a:pt x="0" y="9717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854409" y="1971000"/>
            <a:ext cx="6632646" cy="1045938"/>
            <a:chOff x="0" y="0"/>
            <a:chExt cx="14496291" cy="228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49629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496290">
                  <a:moveTo>
                    <a:pt x="0" y="0"/>
                  </a:moveTo>
                  <a:lnTo>
                    <a:pt x="14496290" y="0"/>
                  </a:lnTo>
                  <a:lnTo>
                    <a:pt x="1449629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-51387" b="-13705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4496291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80"/>
                </a:lnSpc>
              </a:pPr>
              <a:r>
                <a:rPr lang="en-US" b="true" sz="290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Methodolgy and Process for implementation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5674" y="3333312"/>
            <a:ext cx="4634105" cy="1045938"/>
            <a:chOff x="0" y="0"/>
            <a:chExt cx="10128287" cy="228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28287" cy="2286000"/>
            </a:xfrm>
            <a:custGeom>
              <a:avLst/>
              <a:gdLst/>
              <a:ahLst/>
              <a:cxnLst/>
              <a:rect r="r" b="b" t="t" l="l"/>
              <a:pathLst>
                <a:path h="2286000" w="10128287">
                  <a:moveTo>
                    <a:pt x="0" y="0"/>
                  </a:moveTo>
                  <a:lnTo>
                    <a:pt x="10128287" y="0"/>
                  </a:lnTo>
                  <a:lnTo>
                    <a:pt x="10128287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-116676" b="-13705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0128287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40"/>
                </a:lnSpc>
              </a:pPr>
              <a:r>
                <a:rPr lang="en-US" sz="1700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 Scre</a:t>
              </a:r>
              <a:r>
                <a:rPr lang="en-US" b="true" sz="170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 Capture &amp; Local Understanding</a:t>
              </a:r>
            </a:p>
            <a:p>
              <a:pPr algn="just">
                <a:lnSpc>
                  <a:spcPts val="2040"/>
                </a:lnSpc>
              </a:pPr>
              <a:r>
                <a:rPr lang="en-US" sz="17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Capture the active screen and parse UI elements (DOM) locally.</a:t>
              </a:r>
            </a:p>
            <a:p>
              <a:pPr algn="just">
                <a:lnSpc>
                  <a:spcPts val="2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5674" y="4488788"/>
            <a:ext cx="4634105" cy="1045938"/>
            <a:chOff x="0" y="0"/>
            <a:chExt cx="10128287" cy="2286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28287" cy="2286000"/>
            </a:xfrm>
            <a:custGeom>
              <a:avLst/>
              <a:gdLst/>
              <a:ahLst/>
              <a:cxnLst/>
              <a:rect r="r" b="b" t="t" l="l"/>
              <a:pathLst>
                <a:path h="2286000" w="10128287">
                  <a:moveTo>
                    <a:pt x="0" y="0"/>
                  </a:moveTo>
                  <a:lnTo>
                    <a:pt x="10128287" y="0"/>
                  </a:lnTo>
                  <a:lnTo>
                    <a:pt x="10128287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-116676" b="-1370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0128287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40"/>
                </a:lnSpc>
              </a:pPr>
              <a:r>
                <a:rPr lang="en-US" sz="1700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 Sensitiv</a:t>
              </a:r>
              <a:r>
                <a:rPr lang="en-US" b="true" sz="170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 Data Detection</a:t>
              </a:r>
            </a:p>
            <a:p>
              <a:pPr algn="just">
                <a:lnSpc>
                  <a:spcPts val="2040"/>
                </a:lnSpc>
              </a:pPr>
              <a:r>
                <a:rPr lang="en-US" sz="17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</a:t>
              </a:r>
              <a:r>
                <a:rPr lang="en-US" sz="17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tect PII, faces, passwords and other sensitive elements using on-device models.</a:t>
              </a:r>
            </a:p>
            <a:p>
              <a:pPr algn="just">
                <a:lnSpc>
                  <a:spcPts val="24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137737" y="5624454"/>
            <a:ext cx="4634105" cy="1045938"/>
            <a:chOff x="0" y="0"/>
            <a:chExt cx="10128287" cy="2286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28287" cy="2286000"/>
            </a:xfrm>
            <a:custGeom>
              <a:avLst/>
              <a:gdLst/>
              <a:ahLst/>
              <a:cxnLst/>
              <a:rect r="r" b="b" t="t" l="l"/>
              <a:pathLst>
                <a:path h="2286000" w="10128287">
                  <a:moveTo>
                    <a:pt x="0" y="0"/>
                  </a:moveTo>
                  <a:lnTo>
                    <a:pt x="10128287" y="0"/>
                  </a:lnTo>
                  <a:lnTo>
                    <a:pt x="10128287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-116676" b="-13705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0128287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40"/>
                </a:lnSpc>
              </a:pPr>
              <a:r>
                <a:rPr lang="en-US" sz="1700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 Redaction</a:t>
              </a:r>
              <a:r>
                <a:rPr lang="en-US" b="true" sz="170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&amp; Sanitization</a:t>
              </a:r>
            </a:p>
            <a:p>
              <a:pPr algn="just">
                <a:lnSpc>
                  <a:spcPts val="2040"/>
                </a:lnSpc>
              </a:pPr>
              <a:r>
                <a:rPr lang="en-US" sz="17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Blur/m</a:t>
              </a:r>
              <a:r>
                <a:rPr lang="en-US" sz="17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ask sensitive data and replace it with anonymous tokens.</a:t>
              </a:r>
            </a:p>
            <a:p>
              <a:pPr algn="just">
                <a:lnSpc>
                  <a:spcPts val="24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40551" y="6670392"/>
            <a:ext cx="4634105" cy="1045938"/>
            <a:chOff x="0" y="0"/>
            <a:chExt cx="10128287" cy="2286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128287" cy="2286000"/>
            </a:xfrm>
            <a:custGeom>
              <a:avLst/>
              <a:gdLst/>
              <a:ahLst/>
              <a:cxnLst/>
              <a:rect r="r" b="b" t="t" l="l"/>
              <a:pathLst>
                <a:path h="2286000" w="10128287">
                  <a:moveTo>
                    <a:pt x="0" y="0"/>
                  </a:moveTo>
                  <a:lnTo>
                    <a:pt x="10128287" y="0"/>
                  </a:lnTo>
                  <a:lnTo>
                    <a:pt x="10128287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-116676" b="-13705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0128287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40"/>
                </a:lnSpc>
              </a:pPr>
              <a:r>
                <a:rPr lang="en-US" sz="1700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4. AI Reasoning</a:t>
              </a:r>
            </a:p>
            <a:p>
              <a:pPr algn="just">
                <a:lnSpc>
                  <a:spcPts val="2040"/>
                </a:lnSpc>
              </a:pPr>
              <a:r>
                <a:rPr lang="en-US" sz="17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Send only sanitized context to AI to determine the next action.</a:t>
              </a:r>
            </a:p>
            <a:p>
              <a:pPr algn="just">
                <a:lnSpc>
                  <a:spcPts val="24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921190" y="8154775"/>
            <a:ext cx="4634105" cy="1103525"/>
            <a:chOff x="0" y="0"/>
            <a:chExt cx="10128287" cy="241186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128287" cy="2411862"/>
            </a:xfrm>
            <a:custGeom>
              <a:avLst/>
              <a:gdLst/>
              <a:ahLst/>
              <a:cxnLst/>
              <a:rect r="r" b="b" t="t" l="l"/>
              <a:pathLst>
                <a:path h="2411862" w="10128287">
                  <a:moveTo>
                    <a:pt x="0" y="0"/>
                  </a:moveTo>
                  <a:lnTo>
                    <a:pt x="10128287" y="0"/>
                  </a:lnTo>
                  <a:lnTo>
                    <a:pt x="10128287" y="2411862"/>
                  </a:lnTo>
                  <a:lnTo>
                    <a:pt x="0" y="24118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904" r="-116676" b="-12468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0128287" cy="2430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040"/>
                </a:lnSpc>
              </a:pPr>
              <a:r>
                <a:rPr lang="en-US" sz="1700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5. Browser Action Execution</a:t>
              </a:r>
            </a:p>
            <a:p>
              <a:pPr algn="just">
                <a:lnSpc>
                  <a:spcPts val="2040"/>
                </a:lnSpc>
              </a:pPr>
              <a:r>
                <a:rPr lang="en-US" sz="17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</a:t>
              </a:r>
              <a:r>
                <a:rPr lang="en-US" sz="17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ecute actions safely such as click, type, scroll and navigate using element IDs.</a:t>
              </a:r>
            </a:p>
            <a:p>
              <a:pPr algn="just">
                <a:lnSpc>
                  <a:spcPts val="2040"/>
                </a:lnSpc>
              </a:pPr>
              <a:r>
                <a:rPr lang="en-US" sz="17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Repeat until task is completed.</a:t>
              </a:r>
            </a:p>
            <a:p>
              <a:pPr algn="just">
                <a:lnSpc>
                  <a:spcPts val="24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568674" y="3466662"/>
            <a:ext cx="460026" cy="460026"/>
          </a:xfrm>
          <a:custGeom>
            <a:avLst/>
            <a:gdLst/>
            <a:ahLst/>
            <a:cxnLst/>
            <a:rect r="r" b="b" t="t" l="l"/>
            <a:pathLst>
              <a:path h="460026" w="460026">
                <a:moveTo>
                  <a:pt x="0" y="0"/>
                </a:moveTo>
                <a:lnTo>
                  <a:pt x="460026" y="0"/>
                </a:lnTo>
                <a:lnTo>
                  <a:pt x="460026" y="460026"/>
                </a:lnTo>
                <a:lnTo>
                  <a:pt x="0" y="4600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568674" y="4683474"/>
            <a:ext cx="460026" cy="460026"/>
          </a:xfrm>
          <a:custGeom>
            <a:avLst/>
            <a:gdLst/>
            <a:ahLst/>
            <a:cxnLst/>
            <a:rect r="r" b="b" t="t" l="l"/>
            <a:pathLst>
              <a:path h="460026" w="460026">
                <a:moveTo>
                  <a:pt x="0" y="0"/>
                </a:moveTo>
                <a:lnTo>
                  <a:pt x="460026" y="0"/>
                </a:lnTo>
                <a:lnTo>
                  <a:pt x="460026" y="460026"/>
                </a:lnTo>
                <a:lnTo>
                  <a:pt x="0" y="4600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2458766" y="5715701"/>
            <a:ext cx="462424" cy="462424"/>
          </a:xfrm>
          <a:custGeom>
            <a:avLst/>
            <a:gdLst/>
            <a:ahLst/>
            <a:cxnLst/>
            <a:rect r="r" b="b" t="t" l="l"/>
            <a:pathLst>
              <a:path h="462424" w="462424">
                <a:moveTo>
                  <a:pt x="0" y="0"/>
                </a:moveTo>
                <a:lnTo>
                  <a:pt x="462424" y="0"/>
                </a:lnTo>
                <a:lnTo>
                  <a:pt x="462424" y="462424"/>
                </a:lnTo>
                <a:lnTo>
                  <a:pt x="0" y="4624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568674" y="6758468"/>
            <a:ext cx="434893" cy="434893"/>
          </a:xfrm>
          <a:custGeom>
            <a:avLst/>
            <a:gdLst/>
            <a:ahLst/>
            <a:cxnLst/>
            <a:rect r="r" b="b" t="t" l="l"/>
            <a:pathLst>
              <a:path h="434893" w="434893">
                <a:moveTo>
                  <a:pt x="0" y="0"/>
                </a:moveTo>
                <a:lnTo>
                  <a:pt x="434893" y="0"/>
                </a:lnTo>
                <a:lnTo>
                  <a:pt x="434893" y="434894"/>
                </a:lnTo>
                <a:lnTo>
                  <a:pt x="0" y="43489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400312" y="8211631"/>
            <a:ext cx="412607" cy="412607"/>
          </a:xfrm>
          <a:custGeom>
            <a:avLst/>
            <a:gdLst/>
            <a:ahLst/>
            <a:cxnLst/>
            <a:rect r="r" b="b" t="t" l="l"/>
            <a:pathLst>
              <a:path h="412607" w="412607">
                <a:moveTo>
                  <a:pt x="0" y="0"/>
                </a:moveTo>
                <a:lnTo>
                  <a:pt x="412607" y="0"/>
                </a:lnTo>
                <a:lnTo>
                  <a:pt x="412607" y="412606"/>
                </a:lnTo>
                <a:lnTo>
                  <a:pt x="0" y="41260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true" flipV="false" rot="900000">
            <a:off x="5947199" y="3676689"/>
            <a:ext cx="595275" cy="1062992"/>
          </a:xfrm>
          <a:custGeom>
            <a:avLst/>
            <a:gdLst/>
            <a:ahLst/>
            <a:cxnLst/>
            <a:rect r="r" b="b" t="t" l="l"/>
            <a:pathLst>
              <a:path h="1062992" w="595275">
                <a:moveTo>
                  <a:pt x="595276" y="0"/>
                </a:moveTo>
                <a:lnTo>
                  <a:pt x="0" y="0"/>
                </a:lnTo>
                <a:lnTo>
                  <a:pt x="0" y="1062992"/>
                </a:lnTo>
                <a:lnTo>
                  <a:pt x="595276" y="1062992"/>
                </a:lnTo>
                <a:lnTo>
                  <a:pt x="595276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-3600000">
            <a:off x="1552021" y="5390789"/>
            <a:ext cx="595275" cy="1062992"/>
          </a:xfrm>
          <a:custGeom>
            <a:avLst/>
            <a:gdLst/>
            <a:ahLst/>
            <a:cxnLst/>
            <a:rect r="r" b="b" t="t" l="l"/>
            <a:pathLst>
              <a:path h="1062992" w="595275">
                <a:moveTo>
                  <a:pt x="0" y="0"/>
                </a:moveTo>
                <a:lnTo>
                  <a:pt x="595275" y="0"/>
                </a:lnTo>
                <a:lnTo>
                  <a:pt x="595275" y="1062992"/>
                </a:lnTo>
                <a:lnTo>
                  <a:pt x="0" y="106299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true" flipV="false" rot="3600000">
            <a:off x="6372257" y="6437809"/>
            <a:ext cx="595275" cy="1062992"/>
          </a:xfrm>
          <a:custGeom>
            <a:avLst/>
            <a:gdLst/>
            <a:ahLst/>
            <a:cxnLst/>
            <a:rect r="r" b="b" t="t" l="l"/>
            <a:pathLst>
              <a:path h="1062992" w="595275">
                <a:moveTo>
                  <a:pt x="595275" y="0"/>
                </a:moveTo>
                <a:lnTo>
                  <a:pt x="0" y="0"/>
                </a:lnTo>
                <a:lnTo>
                  <a:pt x="0" y="1062992"/>
                </a:lnTo>
                <a:lnTo>
                  <a:pt x="595275" y="1062992"/>
                </a:lnTo>
                <a:lnTo>
                  <a:pt x="595275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-3600000">
            <a:off x="1340170" y="7648563"/>
            <a:ext cx="595275" cy="1062992"/>
          </a:xfrm>
          <a:custGeom>
            <a:avLst/>
            <a:gdLst/>
            <a:ahLst/>
            <a:cxnLst/>
            <a:rect r="r" b="b" t="t" l="l"/>
            <a:pathLst>
              <a:path h="1062992" w="595275">
                <a:moveTo>
                  <a:pt x="0" y="0"/>
                </a:moveTo>
                <a:lnTo>
                  <a:pt x="595276" y="0"/>
                </a:lnTo>
                <a:lnTo>
                  <a:pt x="595276" y="1062992"/>
                </a:lnTo>
                <a:lnTo>
                  <a:pt x="0" y="106299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5047848" y="1835601"/>
            <a:ext cx="7696543" cy="7696543"/>
          </a:xfrm>
          <a:custGeom>
            <a:avLst/>
            <a:gdLst/>
            <a:ahLst/>
            <a:cxnLst/>
            <a:rect r="r" b="b" t="t" l="l"/>
            <a:pathLst>
              <a:path h="7696543" w="7696543">
                <a:moveTo>
                  <a:pt x="0" y="0"/>
                </a:moveTo>
                <a:lnTo>
                  <a:pt x="7696542" y="0"/>
                </a:lnTo>
                <a:lnTo>
                  <a:pt x="7696542" y="7696543"/>
                </a:lnTo>
                <a:lnTo>
                  <a:pt x="0" y="769654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alphaModFix amt="43000"/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9375300" y="1835601"/>
            <a:ext cx="7214357" cy="1298584"/>
          </a:xfrm>
          <a:custGeom>
            <a:avLst/>
            <a:gdLst/>
            <a:ahLst/>
            <a:cxnLst/>
            <a:rect r="r" b="b" t="t" l="l"/>
            <a:pathLst>
              <a:path h="1298584" w="7214357">
                <a:moveTo>
                  <a:pt x="0" y="0"/>
                </a:moveTo>
                <a:lnTo>
                  <a:pt x="7214358" y="0"/>
                </a:lnTo>
                <a:lnTo>
                  <a:pt x="7214358" y="1298584"/>
                </a:lnTo>
                <a:lnTo>
                  <a:pt x="0" y="12985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9790077" y="1920684"/>
            <a:ext cx="6632646" cy="1045938"/>
            <a:chOff x="0" y="0"/>
            <a:chExt cx="14496291" cy="2286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49629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496290">
                  <a:moveTo>
                    <a:pt x="0" y="0"/>
                  </a:moveTo>
                  <a:lnTo>
                    <a:pt x="14496290" y="0"/>
                  </a:lnTo>
                  <a:lnTo>
                    <a:pt x="1449629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-51387" b="-13705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4496291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80"/>
                </a:lnSpc>
              </a:pPr>
              <a:r>
                <a:rPr lang="en-US" sz="3400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Technology Stack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9790077" y="2021316"/>
            <a:ext cx="1350438" cy="945307"/>
          </a:xfrm>
          <a:custGeom>
            <a:avLst/>
            <a:gdLst/>
            <a:ahLst/>
            <a:cxnLst/>
            <a:rect r="r" b="b" t="t" l="l"/>
            <a:pathLst>
              <a:path h="945307" w="1350438">
                <a:moveTo>
                  <a:pt x="0" y="0"/>
                </a:moveTo>
                <a:lnTo>
                  <a:pt x="1350439" y="0"/>
                </a:lnTo>
                <a:lnTo>
                  <a:pt x="1350439" y="945306"/>
                </a:lnTo>
                <a:lnTo>
                  <a:pt x="0" y="945306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9790077" y="4996025"/>
            <a:ext cx="2552181" cy="2883820"/>
          </a:xfrm>
          <a:custGeom>
            <a:avLst/>
            <a:gdLst/>
            <a:ahLst/>
            <a:cxnLst/>
            <a:rect r="r" b="b" t="t" l="l"/>
            <a:pathLst>
              <a:path h="2883820" w="2552181">
                <a:moveTo>
                  <a:pt x="0" y="0"/>
                </a:moveTo>
                <a:lnTo>
                  <a:pt x="2552181" y="0"/>
                </a:lnTo>
                <a:lnTo>
                  <a:pt x="2552181" y="2883821"/>
                </a:lnTo>
                <a:lnTo>
                  <a:pt x="0" y="288382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5840" y="3827145"/>
            <a:ext cx="13895070" cy="200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08369"/>
            <a:ext cx="18288000" cy="478631"/>
            <a:chOff x="0" y="0"/>
            <a:chExt cx="24384000" cy="638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8175"/>
            </a:xfrm>
            <a:custGeom>
              <a:avLst/>
              <a:gdLst/>
              <a:ahLst/>
              <a:cxnLst/>
              <a:rect r="r" b="b" t="t" l="l"/>
              <a:pathLst>
                <a:path h="6381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8175"/>
                  </a:lnTo>
                  <a:lnTo>
                    <a:pt x="0" y="6381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497929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50552" y="9909572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756" y="2248"/>
            <a:ext cx="1915887" cy="1249099"/>
            <a:chOff x="0" y="0"/>
            <a:chExt cx="2554516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240000" y="0"/>
            <a:ext cx="3048000" cy="1439207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1341" y="1251347"/>
            <a:ext cx="8895407" cy="8557022"/>
            <a:chOff x="0" y="0"/>
            <a:chExt cx="635000" cy="6108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" cy="610844"/>
            </a:xfrm>
            <a:custGeom>
              <a:avLst/>
              <a:gdLst/>
              <a:ahLst/>
              <a:cxnLst/>
              <a:rect r="r" b="b" t="t" l="l"/>
              <a:pathLst>
                <a:path h="610844" w="635000">
                  <a:moveTo>
                    <a:pt x="558800" y="0"/>
                  </a:moveTo>
                  <a:cubicBezTo>
                    <a:pt x="596900" y="0"/>
                    <a:pt x="635000" y="25400"/>
                    <a:pt x="635000" y="63500"/>
                  </a:cubicBezTo>
                  <a:lnTo>
                    <a:pt x="635000" y="407644"/>
                  </a:lnTo>
                  <a:cubicBezTo>
                    <a:pt x="635000" y="445744"/>
                    <a:pt x="596900" y="483844"/>
                    <a:pt x="558800" y="483844"/>
                  </a:cubicBezTo>
                  <a:lnTo>
                    <a:pt x="266700" y="483844"/>
                  </a:lnTo>
                  <a:lnTo>
                    <a:pt x="127000" y="610844"/>
                  </a:lnTo>
                  <a:lnTo>
                    <a:pt x="127000" y="483844"/>
                  </a:lnTo>
                  <a:lnTo>
                    <a:pt x="76200" y="483844"/>
                  </a:lnTo>
                  <a:cubicBezTo>
                    <a:pt x="38100" y="483844"/>
                    <a:pt x="0" y="445744"/>
                    <a:pt x="0" y="407644"/>
                  </a:cubicBezTo>
                  <a:lnTo>
                    <a:pt x="0" y="63500"/>
                  </a:lnTo>
                  <a:cubicBezTo>
                    <a:pt x="0" y="25400"/>
                    <a:pt x="38100" y="0"/>
                    <a:pt x="76200" y="0"/>
                  </a:cubicBezTo>
                  <a:lnTo>
                    <a:pt x="5588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7CCE6B">
                    <a:alpha val="100000"/>
                  </a:srgbClr>
                </a:gs>
                <a:gs pos="100000">
                  <a:srgbClr val="D8FFD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63500" y="-3175"/>
              <a:ext cx="508000" cy="423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53552" y="1251347"/>
            <a:ext cx="8792283" cy="8464211"/>
            <a:chOff x="0" y="0"/>
            <a:chExt cx="635000" cy="6113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" cy="611306"/>
            </a:xfrm>
            <a:custGeom>
              <a:avLst/>
              <a:gdLst/>
              <a:ahLst/>
              <a:cxnLst/>
              <a:rect r="r" b="b" t="t" l="l"/>
              <a:pathLst>
                <a:path h="611306" w="635000">
                  <a:moveTo>
                    <a:pt x="558800" y="0"/>
                  </a:moveTo>
                  <a:cubicBezTo>
                    <a:pt x="596900" y="0"/>
                    <a:pt x="635000" y="25400"/>
                    <a:pt x="635000" y="63500"/>
                  </a:cubicBezTo>
                  <a:lnTo>
                    <a:pt x="635000" y="408106"/>
                  </a:lnTo>
                  <a:cubicBezTo>
                    <a:pt x="635000" y="446206"/>
                    <a:pt x="596900" y="484306"/>
                    <a:pt x="558800" y="484306"/>
                  </a:cubicBezTo>
                  <a:lnTo>
                    <a:pt x="266700" y="484306"/>
                  </a:lnTo>
                  <a:lnTo>
                    <a:pt x="127000" y="611306"/>
                  </a:lnTo>
                  <a:lnTo>
                    <a:pt x="127000" y="484306"/>
                  </a:lnTo>
                  <a:lnTo>
                    <a:pt x="76200" y="484306"/>
                  </a:lnTo>
                  <a:cubicBezTo>
                    <a:pt x="38100" y="484306"/>
                    <a:pt x="0" y="446206"/>
                    <a:pt x="0" y="408106"/>
                  </a:cubicBezTo>
                  <a:lnTo>
                    <a:pt x="0" y="63500"/>
                  </a:lnTo>
                  <a:cubicBezTo>
                    <a:pt x="0" y="25400"/>
                    <a:pt x="38100" y="0"/>
                    <a:pt x="76200" y="0"/>
                  </a:cubicBezTo>
                  <a:lnTo>
                    <a:pt x="5588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7CCE6B">
                    <a:alpha val="100000"/>
                  </a:srgbClr>
                </a:gs>
                <a:gs pos="100000">
                  <a:srgbClr val="D8FFD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63500" y="-3175"/>
              <a:ext cx="508000" cy="423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08369"/>
            <a:ext cx="18288000" cy="478631"/>
            <a:chOff x="0" y="0"/>
            <a:chExt cx="24384000" cy="638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8175"/>
            </a:xfrm>
            <a:custGeom>
              <a:avLst/>
              <a:gdLst/>
              <a:ahLst/>
              <a:cxnLst/>
              <a:rect r="r" b="b" t="t" l="l"/>
              <a:pathLst>
                <a:path h="6381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8175"/>
                  </a:lnTo>
                  <a:lnTo>
                    <a:pt x="0" y="6381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27838" y="-497929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60"/>
                </a:lnSpc>
              </a:pPr>
              <a:r>
                <a:rPr lang="en-US" sz="48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94048" y="9808369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0"/>
            <a:ext cx="1741783" cy="1135589"/>
            <a:chOff x="0" y="0"/>
            <a:chExt cx="2554516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804863" y="-36901"/>
            <a:ext cx="2483137" cy="1172490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904215" y="766045"/>
            <a:ext cx="2612946" cy="1304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6"/>
              </a:lnSpc>
            </a:pPr>
            <a:r>
              <a:rPr lang="en-US" b="true" sz="3761" i="true" u="sng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References</a:t>
            </a:r>
          </a:p>
          <a:p>
            <a:pPr algn="ctr">
              <a:lnSpc>
                <a:spcPts val="5266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756520"/>
            <a:ext cx="6133033" cy="1366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8"/>
              </a:lnSpc>
            </a:pPr>
            <a:r>
              <a:rPr lang="en-US" b="true" sz="3934" i="true" u="sng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Research </a:t>
            </a:r>
          </a:p>
          <a:p>
            <a:pPr algn="ctr">
              <a:lnSpc>
                <a:spcPts val="5508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0" y="1689671"/>
            <a:ext cx="388367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4"/>
              </a:lnSpc>
              <a:spcBef>
                <a:spcPct val="0"/>
              </a:spcBef>
            </a:pPr>
            <a:r>
              <a:rPr lang="en-US" b="true" sz="242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Competitive Landscape: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65" y="2104376"/>
            <a:ext cx="8696457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browser agents offer different privacy approaches, but all face risks like prompt injection, excessive data collection, and broad data access. Brave Leo stands out with on-device processing, highlighting the need for secure, privacy-focused local browser agents.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4165" y="3903135"/>
            <a:ext cx="9592785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Indian websites expose 8 sensitive identifier types (Aadhaar, PAN, UPI, IFSC, Voter ID, Driving Licence, Passport, Bank Account) with distinct formats, but detection faces challenges from formatting variations, false positives, and image-based PII. Current system covers emails, phones, Aadhaar, PAN, and cards, but critical gaps remain for UPI, IFSC, bank accounts, and government IDs.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-200053" y="3541185"/>
            <a:ext cx="388367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4"/>
              </a:lnSpc>
              <a:spcBef>
                <a:spcPct val="0"/>
              </a:spcBef>
            </a:pPr>
            <a:r>
              <a:rPr lang="en-US" b="true" sz="242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Indian Sensitive Data: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65" y="6112935"/>
            <a:ext cx="9397049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MediaPipe provides fully local face detection in-browser (~2.3MB model), while Tesseract.js (WASM SIMD) and PaddleOCR.js (WebGPU) deliver production-ready OCR (300ms and 97ms per image respectively), all enabled by WebGPU's 3-8× speedup over WebGL—though shader compilation adds 1-5s warm-up time.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65" y="7979835"/>
            <a:ext cx="9397049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Redaction quality is measured via PII detection precision/recall and Masking F2 score (prioritizing recall), with OCR-based leak checking verifying no readable text remains in redacted images. Contextual signals (labels like "PAN," "Aadhaar") boost detection confidence, but a false-positive catalog is essential to avoid over-redaction.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165" y="5693835"/>
            <a:ext cx="277534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Redaction Quality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97049" y="1579511"/>
            <a:ext cx="811160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55" indent="-280678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0.6B local PII detector—mirrors your project's core goal.</a:t>
            </a:r>
          </a:p>
        </p:txBody>
      </p:sp>
      <p:sp>
        <p:nvSpPr>
          <p:cNvPr name="TextBox 28" id="28" descr="click here "/>
          <p:cNvSpPr txBox="true"/>
          <p:nvPr/>
        </p:nvSpPr>
        <p:spPr>
          <a:xfrm rot="0">
            <a:off x="11762440" y="1841219"/>
            <a:ext cx="6955119" cy="41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5"/>
              </a:lnSpc>
            </a:pPr>
            <a:r>
              <a:rPr lang="en-US" b="true" sz="2389" u="sng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  <a:hlinkClick r:id="rId4" tooltip="https://www.perplexity.ai/hub/blog/pii-trace-detecting-personal-data-before-it-leaves-the-device"/>
              </a:rPr>
              <a:t>Perplexity PII Tracer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01214" y="2352026"/>
            <a:ext cx="888678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55" indent="-280678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OpenAI's solution for preventing URL-based data exfiltration in AI agents.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04215" y="2656630"/>
            <a:ext cx="2677954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u="sng">
                <a:solidFill>
                  <a:srgbClr val="4A7EBB"/>
                </a:solidFill>
                <a:latin typeface="Arimo Bold"/>
                <a:ea typeface="Arimo Bold"/>
                <a:cs typeface="Arimo Bold"/>
                <a:sym typeface="Arimo Bold"/>
                <a:hlinkClick r:id="rId5" tooltip="https://openai.com/index/ai-agent-link-safety/"/>
              </a:rPr>
              <a:t>OpenAI Link Safety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97049" y="3160185"/>
            <a:ext cx="888678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55" indent="-280678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Official Income Tax Department portal for PAN's 10-character alphanumeric structure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15911" y="3513880"/>
            <a:ext cx="2342674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u="sng" b="true">
                <a:solidFill>
                  <a:srgbClr val="4A7EBB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true" sz="2300" u="sng">
                <a:solidFill>
                  <a:srgbClr val="4A7EBB"/>
                </a:solidFill>
                <a:latin typeface="Arimo Bold"/>
                <a:ea typeface="Arimo Bold"/>
                <a:cs typeface="Arimo Bold"/>
                <a:sym typeface="Arimo Bold"/>
                <a:hlinkClick r:id="rId6" tooltip="https://www.incometax.gov.in"/>
              </a:rPr>
              <a:t>Income Tax PAN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01214" y="4150785"/>
            <a:ext cx="888678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55" indent="-280678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Official UIDAI page for Aadhaar's 12-digit format and Verhoeff checksum.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904215" y="4542580"/>
            <a:ext cx="2034183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u="sng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  <a:hlinkClick r:id="rId7" tooltip="https://uidai.gov.in/bn/about-aadhaar"/>
              </a:rPr>
              <a:t>UIDAI Aadhaar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01214" y="5122335"/>
            <a:ext cx="888678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55" indent="-280678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browser-based document pipeline (PDF → OCR → NER) running entirely locally via WebAssembly/WebGPU.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54033" y="7341660"/>
            <a:ext cx="8933967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55" indent="-280678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Microsoft's open-source toolkit for PII detection and redaction in text and images.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72518" y="6465360"/>
            <a:ext cx="888678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55" indent="-280678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Official Chrome overview of WebGPU, enabling 3×+ speedup over WebGL</a:t>
            </a:r>
            <a:r>
              <a:rPr lang="en-US" sz="26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66118" y="8458200"/>
            <a:ext cx="8910377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55" indent="-280678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benchmark dataset for evaluating masking quality via precision/recall and F2 score.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98820" y="7733455"/>
            <a:ext cx="2034183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u="sng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  <a:hlinkClick r:id="rId8" tooltip="https://uidai.gov.in/bn/about-aadhaar"/>
              </a:rPr>
              <a:t>UIDAI Aadhaar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210687" y="8849995"/>
            <a:ext cx="2034183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u="sng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  <a:hlinkClick r:id="rId9" tooltip="https://uidai.gov.in/bn/about-aadhaar"/>
              </a:rPr>
              <a:t>UIDAI Aadhaar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803925" y="5884335"/>
            <a:ext cx="2034183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u="sng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  <a:hlinkClick r:id="rId10" tooltip="https://uidai.gov.in/bn/about-aadhaar"/>
              </a:rPr>
              <a:t>UIDAI Aadhaar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887123" y="6857155"/>
            <a:ext cx="2034183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u="sng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  <a:hlinkClick r:id="rId11" tooltip="https://uidai.gov.in/bn/about-aadhaar"/>
              </a:rPr>
              <a:t>UIDAI Aadhaar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08369"/>
            <a:ext cx="18288000" cy="478631"/>
            <a:chOff x="0" y="0"/>
            <a:chExt cx="24384000" cy="638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8175"/>
            </a:xfrm>
            <a:custGeom>
              <a:avLst/>
              <a:gdLst/>
              <a:ahLst/>
              <a:cxnLst/>
              <a:rect r="r" b="b" t="t" l="l"/>
              <a:pathLst>
                <a:path h="6381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8175"/>
                  </a:lnTo>
                  <a:lnTo>
                    <a:pt x="0" y="6381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4419" y="-497929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60"/>
                </a:lnSpc>
              </a:pPr>
              <a:r>
                <a:rPr lang="en-US" sz="48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94048" y="9808369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0"/>
            <a:ext cx="1741783" cy="1135589"/>
            <a:chOff x="0" y="0"/>
            <a:chExt cx="2554516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404598" y="-36901"/>
            <a:ext cx="1881408" cy="888365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154004" y="851464"/>
            <a:ext cx="10841084" cy="680422"/>
            <a:chOff x="0" y="0"/>
            <a:chExt cx="2855265" cy="1792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55265" cy="179206"/>
            </a:xfrm>
            <a:custGeom>
              <a:avLst/>
              <a:gdLst/>
              <a:ahLst/>
              <a:cxnLst/>
              <a:rect r="r" b="b" t="t" l="l"/>
              <a:pathLst>
                <a:path h="179206" w="2855265">
                  <a:moveTo>
                    <a:pt x="36421" y="0"/>
                  </a:moveTo>
                  <a:lnTo>
                    <a:pt x="2818845" y="0"/>
                  </a:lnTo>
                  <a:cubicBezTo>
                    <a:pt x="2828504" y="0"/>
                    <a:pt x="2837767" y="3837"/>
                    <a:pt x="2844598" y="10667"/>
                  </a:cubicBezTo>
                  <a:cubicBezTo>
                    <a:pt x="2851428" y="17497"/>
                    <a:pt x="2855265" y="26761"/>
                    <a:pt x="2855265" y="36421"/>
                  </a:cubicBezTo>
                  <a:lnTo>
                    <a:pt x="2855265" y="142785"/>
                  </a:lnTo>
                  <a:cubicBezTo>
                    <a:pt x="2855265" y="162900"/>
                    <a:pt x="2838959" y="179206"/>
                    <a:pt x="2818845" y="179206"/>
                  </a:cubicBezTo>
                  <a:lnTo>
                    <a:pt x="36421" y="179206"/>
                  </a:lnTo>
                  <a:cubicBezTo>
                    <a:pt x="16306" y="179206"/>
                    <a:pt x="0" y="162900"/>
                    <a:pt x="0" y="142785"/>
                  </a:cubicBezTo>
                  <a:lnTo>
                    <a:pt x="0" y="36421"/>
                  </a:lnTo>
                  <a:cubicBezTo>
                    <a:pt x="0" y="16306"/>
                    <a:pt x="16306" y="0"/>
                    <a:pt x="36421" y="0"/>
                  </a:cubicBez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2855265" cy="245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b="true" sz="23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         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1971901" y="1210725"/>
            <a:ext cx="1772826" cy="584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8538398" y="1642911"/>
            <a:ext cx="3036109" cy="2410027"/>
            <a:chOff x="0" y="0"/>
            <a:chExt cx="799634" cy="6347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99634" cy="634740"/>
            </a:xfrm>
            <a:custGeom>
              <a:avLst/>
              <a:gdLst/>
              <a:ahLst/>
              <a:cxnLst/>
              <a:rect r="r" b="b" t="t" l="l"/>
              <a:pathLst>
                <a:path h="634740" w="799634">
                  <a:moveTo>
                    <a:pt x="130047" y="0"/>
                  </a:moveTo>
                  <a:lnTo>
                    <a:pt x="669586" y="0"/>
                  </a:lnTo>
                  <a:cubicBezTo>
                    <a:pt x="741409" y="0"/>
                    <a:pt x="799634" y="58224"/>
                    <a:pt x="799634" y="130047"/>
                  </a:cubicBezTo>
                  <a:lnTo>
                    <a:pt x="799634" y="504692"/>
                  </a:lnTo>
                  <a:cubicBezTo>
                    <a:pt x="799634" y="576515"/>
                    <a:pt x="741409" y="634740"/>
                    <a:pt x="669586" y="634740"/>
                  </a:cubicBezTo>
                  <a:lnTo>
                    <a:pt x="130047" y="634740"/>
                  </a:lnTo>
                  <a:cubicBezTo>
                    <a:pt x="95557" y="634740"/>
                    <a:pt x="62479" y="621038"/>
                    <a:pt x="38090" y="596650"/>
                  </a:cubicBezTo>
                  <a:cubicBezTo>
                    <a:pt x="13701" y="572261"/>
                    <a:pt x="0" y="539183"/>
                    <a:pt x="0" y="504692"/>
                  </a:cubicBezTo>
                  <a:lnTo>
                    <a:pt x="0" y="130047"/>
                  </a:lnTo>
                  <a:cubicBezTo>
                    <a:pt x="0" y="58224"/>
                    <a:pt x="58224" y="0"/>
                    <a:pt x="1300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88888">
                    <a:alpha val="70000"/>
                  </a:srgbClr>
                </a:gs>
                <a:gs pos="100000">
                  <a:srgbClr val="FFFFFF">
                    <a:alpha val="70000"/>
                  </a:srgbClr>
                </a:gs>
              </a:gsLst>
              <a:lin ang="16200000"/>
            </a:gradFill>
            <a:ln w="66675" cap="rnd">
              <a:solidFill>
                <a:srgbClr val="1F497D">
                  <a:alpha val="69804"/>
                </a:srgbClr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799634" cy="701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272518" y="792422"/>
            <a:ext cx="2612946" cy="1304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6"/>
              </a:lnSpc>
            </a:pPr>
            <a:r>
              <a:rPr lang="en-US" b="true" sz="3761" i="true" u="sng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References</a:t>
            </a:r>
          </a:p>
          <a:p>
            <a:pPr algn="ctr">
              <a:lnSpc>
                <a:spcPts val="5266"/>
              </a:lnSpc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11885464" y="4405363"/>
            <a:ext cx="3019731" cy="2371779"/>
            <a:chOff x="0" y="0"/>
            <a:chExt cx="795320" cy="6246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5320" cy="624666"/>
            </a:xfrm>
            <a:custGeom>
              <a:avLst/>
              <a:gdLst/>
              <a:ahLst/>
              <a:cxnLst/>
              <a:rect r="r" b="b" t="t" l="l"/>
              <a:pathLst>
                <a:path h="624666" w="795320">
                  <a:moveTo>
                    <a:pt x="130753" y="0"/>
                  </a:moveTo>
                  <a:lnTo>
                    <a:pt x="664567" y="0"/>
                  </a:lnTo>
                  <a:cubicBezTo>
                    <a:pt x="699245" y="0"/>
                    <a:pt x="732503" y="13776"/>
                    <a:pt x="757024" y="38297"/>
                  </a:cubicBezTo>
                  <a:cubicBezTo>
                    <a:pt x="781544" y="62817"/>
                    <a:pt x="795320" y="96075"/>
                    <a:pt x="795320" y="130753"/>
                  </a:cubicBezTo>
                  <a:lnTo>
                    <a:pt x="795320" y="493913"/>
                  </a:lnTo>
                  <a:cubicBezTo>
                    <a:pt x="795320" y="528591"/>
                    <a:pt x="781544" y="561849"/>
                    <a:pt x="757024" y="586369"/>
                  </a:cubicBezTo>
                  <a:cubicBezTo>
                    <a:pt x="732503" y="610890"/>
                    <a:pt x="699245" y="624666"/>
                    <a:pt x="664567" y="624666"/>
                  </a:cubicBezTo>
                  <a:lnTo>
                    <a:pt x="130753" y="624666"/>
                  </a:lnTo>
                  <a:cubicBezTo>
                    <a:pt x="96075" y="624666"/>
                    <a:pt x="62817" y="610890"/>
                    <a:pt x="38297" y="586369"/>
                  </a:cubicBezTo>
                  <a:cubicBezTo>
                    <a:pt x="13776" y="561849"/>
                    <a:pt x="0" y="528591"/>
                    <a:pt x="0" y="493913"/>
                  </a:cubicBezTo>
                  <a:lnTo>
                    <a:pt x="0" y="130753"/>
                  </a:lnTo>
                  <a:cubicBezTo>
                    <a:pt x="0" y="96075"/>
                    <a:pt x="13776" y="62817"/>
                    <a:pt x="38297" y="38297"/>
                  </a:cubicBezTo>
                  <a:cubicBezTo>
                    <a:pt x="62817" y="13776"/>
                    <a:pt x="96075" y="0"/>
                    <a:pt x="13075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AF6EE">
                    <a:alpha val="77000"/>
                  </a:srgbClr>
                </a:gs>
                <a:gs pos="100000">
                  <a:srgbClr val="EAFFFE">
                    <a:alpha val="77000"/>
                  </a:srgbClr>
                </a:gs>
              </a:gsLst>
              <a:lin ang="5400000"/>
            </a:gradFill>
            <a:ln w="66675" cap="rnd">
              <a:solidFill>
                <a:srgbClr val="1F497D">
                  <a:alpha val="76863"/>
                </a:srgbClr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795320" cy="691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240000" y="4405363"/>
            <a:ext cx="2995883" cy="2371779"/>
            <a:chOff x="0" y="0"/>
            <a:chExt cx="789039" cy="6246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89039" cy="624666"/>
            </a:xfrm>
            <a:custGeom>
              <a:avLst/>
              <a:gdLst/>
              <a:ahLst/>
              <a:cxnLst/>
              <a:rect r="r" b="b" t="t" l="l"/>
              <a:pathLst>
                <a:path h="624666" w="789039">
                  <a:moveTo>
                    <a:pt x="131793" y="0"/>
                  </a:moveTo>
                  <a:lnTo>
                    <a:pt x="657246" y="0"/>
                  </a:lnTo>
                  <a:cubicBezTo>
                    <a:pt x="730033" y="0"/>
                    <a:pt x="789039" y="59006"/>
                    <a:pt x="789039" y="131793"/>
                  </a:cubicBezTo>
                  <a:lnTo>
                    <a:pt x="789039" y="492872"/>
                  </a:lnTo>
                  <a:cubicBezTo>
                    <a:pt x="789039" y="565660"/>
                    <a:pt x="730033" y="624666"/>
                    <a:pt x="657246" y="624666"/>
                  </a:cubicBezTo>
                  <a:lnTo>
                    <a:pt x="131793" y="624666"/>
                  </a:lnTo>
                  <a:cubicBezTo>
                    <a:pt x="59006" y="624666"/>
                    <a:pt x="0" y="565660"/>
                    <a:pt x="0" y="492872"/>
                  </a:cubicBezTo>
                  <a:lnTo>
                    <a:pt x="0" y="131793"/>
                  </a:lnTo>
                  <a:cubicBezTo>
                    <a:pt x="0" y="59006"/>
                    <a:pt x="59006" y="0"/>
                    <a:pt x="1317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A9FF">
                    <a:alpha val="82000"/>
                  </a:srgbClr>
                </a:gs>
                <a:gs pos="100000">
                  <a:srgbClr val="F5F8FF">
                    <a:alpha val="82000"/>
                  </a:srgbClr>
                </a:gs>
              </a:gsLst>
              <a:lin ang="5400000"/>
            </a:gradFill>
            <a:ln w="66675" cap="rnd">
              <a:solidFill>
                <a:srgbClr val="1F497D">
                  <a:alpha val="81961"/>
                </a:srgbClr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789039" cy="691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873881" y="1708721"/>
            <a:ext cx="2964227" cy="2344217"/>
            <a:chOff x="0" y="0"/>
            <a:chExt cx="780702" cy="61740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80702" cy="617407"/>
            </a:xfrm>
            <a:custGeom>
              <a:avLst/>
              <a:gdLst/>
              <a:ahLst/>
              <a:cxnLst/>
              <a:rect r="r" b="b" t="t" l="l"/>
              <a:pathLst>
                <a:path h="617407" w="780702">
                  <a:moveTo>
                    <a:pt x="133201" y="0"/>
                  </a:moveTo>
                  <a:lnTo>
                    <a:pt x="647501" y="0"/>
                  </a:lnTo>
                  <a:cubicBezTo>
                    <a:pt x="721066" y="0"/>
                    <a:pt x="780702" y="59636"/>
                    <a:pt x="780702" y="133201"/>
                  </a:cubicBezTo>
                  <a:lnTo>
                    <a:pt x="780702" y="484206"/>
                  </a:lnTo>
                  <a:cubicBezTo>
                    <a:pt x="780702" y="557771"/>
                    <a:pt x="721066" y="617407"/>
                    <a:pt x="647501" y="617407"/>
                  </a:cubicBezTo>
                  <a:lnTo>
                    <a:pt x="133201" y="617407"/>
                  </a:lnTo>
                  <a:cubicBezTo>
                    <a:pt x="59636" y="617407"/>
                    <a:pt x="0" y="557771"/>
                    <a:pt x="0" y="484206"/>
                  </a:cubicBezTo>
                  <a:lnTo>
                    <a:pt x="0" y="133201"/>
                  </a:lnTo>
                  <a:cubicBezTo>
                    <a:pt x="0" y="59636"/>
                    <a:pt x="59636" y="0"/>
                    <a:pt x="1332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9F0F3">
                    <a:alpha val="64000"/>
                  </a:srgbClr>
                </a:gs>
                <a:gs pos="100000">
                  <a:srgbClr val="A2A5AC">
                    <a:alpha val="64000"/>
                  </a:srgbClr>
                </a:gs>
              </a:gsLst>
              <a:lin ang="5400000"/>
            </a:gradFill>
            <a:ln w="66675" cap="rnd">
              <a:solidFill>
                <a:srgbClr val="1F497D">
                  <a:alpha val="63922"/>
                </a:srgbClr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780702" cy="684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240000" y="1708721"/>
            <a:ext cx="2919304" cy="2344217"/>
            <a:chOff x="0" y="0"/>
            <a:chExt cx="768870" cy="61740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8870" cy="617407"/>
            </a:xfrm>
            <a:custGeom>
              <a:avLst/>
              <a:gdLst/>
              <a:ahLst/>
              <a:cxnLst/>
              <a:rect r="r" b="b" t="t" l="l"/>
              <a:pathLst>
                <a:path h="617407" w="768870">
                  <a:moveTo>
                    <a:pt x="135251" y="0"/>
                  </a:moveTo>
                  <a:lnTo>
                    <a:pt x="633620" y="0"/>
                  </a:lnTo>
                  <a:cubicBezTo>
                    <a:pt x="669490" y="0"/>
                    <a:pt x="703892" y="14250"/>
                    <a:pt x="729256" y="39614"/>
                  </a:cubicBezTo>
                  <a:cubicBezTo>
                    <a:pt x="754621" y="64978"/>
                    <a:pt x="768870" y="99380"/>
                    <a:pt x="768870" y="135251"/>
                  </a:cubicBezTo>
                  <a:lnTo>
                    <a:pt x="768870" y="482156"/>
                  </a:lnTo>
                  <a:cubicBezTo>
                    <a:pt x="768870" y="518027"/>
                    <a:pt x="754621" y="552428"/>
                    <a:pt x="729256" y="577793"/>
                  </a:cubicBezTo>
                  <a:cubicBezTo>
                    <a:pt x="703892" y="603157"/>
                    <a:pt x="669490" y="617407"/>
                    <a:pt x="633620" y="617407"/>
                  </a:cubicBezTo>
                  <a:lnTo>
                    <a:pt x="135251" y="617407"/>
                  </a:lnTo>
                  <a:cubicBezTo>
                    <a:pt x="99380" y="617407"/>
                    <a:pt x="64978" y="603157"/>
                    <a:pt x="39614" y="577793"/>
                  </a:cubicBezTo>
                  <a:cubicBezTo>
                    <a:pt x="14250" y="552428"/>
                    <a:pt x="0" y="518027"/>
                    <a:pt x="0" y="482156"/>
                  </a:cubicBezTo>
                  <a:lnTo>
                    <a:pt x="0" y="135251"/>
                  </a:lnTo>
                  <a:cubicBezTo>
                    <a:pt x="0" y="99380"/>
                    <a:pt x="14250" y="64978"/>
                    <a:pt x="39614" y="39614"/>
                  </a:cubicBezTo>
                  <a:cubicBezTo>
                    <a:pt x="64978" y="14250"/>
                    <a:pt x="99380" y="0"/>
                    <a:pt x="1352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CCE6B">
                    <a:alpha val="76000"/>
                  </a:srgbClr>
                </a:gs>
                <a:gs pos="100000">
                  <a:srgbClr val="D8FFD0">
                    <a:alpha val="76000"/>
                  </a:srgbClr>
                </a:gs>
              </a:gsLst>
              <a:lin ang="5400000"/>
            </a:gradFill>
            <a:ln w="66675" cap="rnd">
              <a:solidFill>
                <a:srgbClr val="1F497D">
                  <a:alpha val="75686"/>
                </a:srgbClr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768870" cy="684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538398" y="7060277"/>
            <a:ext cx="2902658" cy="2394057"/>
            <a:chOff x="0" y="0"/>
            <a:chExt cx="764486" cy="63053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4486" cy="630533"/>
            </a:xfrm>
            <a:custGeom>
              <a:avLst/>
              <a:gdLst/>
              <a:ahLst/>
              <a:cxnLst/>
              <a:rect r="r" b="b" t="t" l="l"/>
              <a:pathLst>
                <a:path h="630533" w="764486">
                  <a:moveTo>
                    <a:pt x="136026" y="0"/>
                  </a:moveTo>
                  <a:lnTo>
                    <a:pt x="628460" y="0"/>
                  </a:lnTo>
                  <a:cubicBezTo>
                    <a:pt x="664536" y="0"/>
                    <a:pt x="699135" y="14331"/>
                    <a:pt x="724645" y="39841"/>
                  </a:cubicBezTo>
                  <a:cubicBezTo>
                    <a:pt x="750155" y="65351"/>
                    <a:pt x="764486" y="99950"/>
                    <a:pt x="764486" y="136026"/>
                  </a:cubicBezTo>
                  <a:lnTo>
                    <a:pt x="764486" y="494507"/>
                  </a:lnTo>
                  <a:cubicBezTo>
                    <a:pt x="764486" y="569632"/>
                    <a:pt x="703585" y="630533"/>
                    <a:pt x="628460" y="630533"/>
                  </a:cubicBezTo>
                  <a:lnTo>
                    <a:pt x="136026" y="630533"/>
                  </a:lnTo>
                  <a:cubicBezTo>
                    <a:pt x="99950" y="630533"/>
                    <a:pt x="65351" y="616202"/>
                    <a:pt x="39841" y="590692"/>
                  </a:cubicBezTo>
                  <a:cubicBezTo>
                    <a:pt x="14331" y="565182"/>
                    <a:pt x="0" y="530584"/>
                    <a:pt x="0" y="494507"/>
                  </a:cubicBezTo>
                  <a:lnTo>
                    <a:pt x="0" y="136026"/>
                  </a:lnTo>
                  <a:cubicBezTo>
                    <a:pt x="0" y="99950"/>
                    <a:pt x="14331" y="65351"/>
                    <a:pt x="39841" y="39841"/>
                  </a:cubicBezTo>
                  <a:cubicBezTo>
                    <a:pt x="65351" y="14331"/>
                    <a:pt x="99950" y="0"/>
                    <a:pt x="1360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A9FF">
                    <a:alpha val="76000"/>
                  </a:srgbClr>
                </a:gs>
                <a:gs pos="100000">
                  <a:srgbClr val="F5F8FF">
                    <a:alpha val="76000"/>
                  </a:srgbClr>
                </a:gs>
              </a:gsLst>
              <a:lin ang="5400000"/>
            </a:gradFill>
            <a:ln w="66675" cap="rnd">
              <a:solidFill>
                <a:srgbClr val="1F497D">
                  <a:alpha val="75686"/>
                </a:srgbClr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764486" cy="697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873881" y="7060277"/>
            <a:ext cx="2933294" cy="2394057"/>
            <a:chOff x="0" y="0"/>
            <a:chExt cx="772555" cy="63053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72555" cy="630533"/>
            </a:xfrm>
            <a:custGeom>
              <a:avLst/>
              <a:gdLst/>
              <a:ahLst/>
              <a:cxnLst/>
              <a:rect r="r" b="b" t="t" l="l"/>
              <a:pathLst>
                <a:path h="630533" w="772555">
                  <a:moveTo>
                    <a:pt x="134606" y="0"/>
                  </a:moveTo>
                  <a:lnTo>
                    <a:pt x="637949" y="0"/>
                  </a:lnTo>
                  <a:cubicBezTo>
                    <a:pt x="712290" y="0"/>
                    <a:pt x="772555" y="60265"/>
                    <a:pt x="772555" y="134606"/>
                  </a:cubicBezTo>
                  <a:lnTo>
                    <a:pt x="772555" y="495928"/>
                  </a:lnTo>
                  <a:cubicBezTo>
                    <a:pt x="772555" y="570268"/>
                    <a:pt x="712290" y="630533"/>
                    <a:pt x="637949" y="630533"/>
                  </a:cubicBezTo>
                  <a:lnTo>
                    <a:pt x="134606" y="630533"/>
                  </a:lnTo>
                  <a:cubicBezTo>
                    <a:pt x="60265" y="630533"/>
                    <a:pt x="0" y="570268"/>
                    <a:pt x="0" y="495928"/>
                  </a:cubicBezTo>
                  <a:lnTo>
                    <a:pt x="0" y="134606"/>
                  </a:lnTo>
                  <a:cubicBezTo>
                    <a:pt x="0" y="60265"/>
                    <a:pt x="60265" y="0"/>
                    <a:pt x="1346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093FF">
                    <a:alpha val="86000"/>
                  </a:srgbClr>
                </a:gs>
                <a:gs pos="100000">
                  <a:srgbClr val="FDF1FF">
                    <a:alpha val="86000"/>
                  </a:srgbClr>
                </a:gs>
              </a:gsLst>
              <a:lin ang="5400000"/>
            </a:gradFill>
            <a:ln w="66675" cap="rnd">
              <a:solidFill>
                <a:srgbClr val="1F497D">
                  <a:alpha val="85882"/>
                </a:srgbClr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772555" cy="697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240000" y="7120893"/>
            <a:ext cx="2995883" cy="2333441"/>
            <a:chOff x="0" y="0"/>
            <a:chExt cx="789039" cy="61456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89039" cy="614569"/>
            </a:xfrm>
            <a:custGeom>
              <a:avLst/>
              <a:gdLst/>
              <a:ahLst/>
              <a:cxnLst/>
              <a:rect r="r" b="b" t="t" l="l"/>
              <a:pathLst>
                <a:path h="614569" w="789039">
                  <a:moveTo>
                    <a:pt x="131793" y="0"/>
                  </a:moveTo>
                  <a:lnTo>
                    <a:pt x="657246" y="0"/>
                  </a:lnTo>
                  <a:cubicBezTo>
                    <a:pt x="730033" y="0"/>
                    <a:pt x="789039" y="59006"/>
                    <a:pt x="789039" y="131793"/>
                  </a:cubicBezTo>
                  <a:lnTo>
                    <a:pt x="789039" y="482775"/>
                  </a:lnTo>
                  <a:cubicBezTo>
                    <a:pt x="789039" y="555563"/>
                    <a:pt x="730033" y="614569"/>
                    <a:pt x="657246" y="614569"/>
                  </a:cubicBezTo>
                  <a:lnTo>
                    <a:pt x="131793" y="614569"/>
                  </a:lnTo>
                  <a:cubicBezTo>
                    <a:pt x="59006" y="614569"/>
                    <a:pt x="0" y="555563"/>
                    <a:pt x="0" y="482775"/>
                  </a:cubicBezTo>
                  <a:lnTo>
                    <a:pt x="0" y="131793"/>
                  </a:lnTo>
                  <a:cubicBezTo>
                    <a:pt x="0" y="59006"/>
                    <a:pt x="59006" y="0"/>
                    <a:pt x="1317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DA6A">
                    <a:alpha val="66000"/>
                  </a:srgbClr>
                </a:gs>
                <a:gs pos="100000">
                  <a:srgbClr val="FFF7DE">
                    <a:alpha val="66000"/>
                  </a:srgbClr>
                </a:gs>
              </a:gsLst>
              <a:lin ang="5400000"/>
            </a:gradFill>
            <a:ln w="66675" cap="rnd">
              <a:solidFill>
                <a:srgbClr val="1F497D">
                  <a:alpha val="65882"/>
                </a:srgbClr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789039" cy="681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538398" y="4405363"/>
            <a:ext cx="2902658" cy="2300880"/>
            <a:chOff x="0" y="0"/>
            <a:chExt cx="764486" cy="60599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4486" cy="605993"/>
            </a:xfrm>
            <a:custGeom>
              <a:avLst/>
              <a:gdLst/>
              <a:ahLst/>
              <a:cxnLst/>
              <a:rect r="r" b="b" t="t" l="l"/>
              <a:pathLst>
                <a:path h="605993" w="764486">
                  <a:moveTo>
                    <a:pt x="136026" y="0"/>
                  </a:moveTo>
                  <a:lnTo>
                    <a:pt x="628460" y="0"/>
                  </a:lnTo>
                  <a:cubicBezTo>
                    <a:pt x="664536" y="0"/>
                    <a:pt x="699135" y="14331"/>
                    <a:pt x="724645" y="39841"/>
                  </a:cubicBezTo>
                  <a:cubicBezTo>
                    <a:pt x="750155" y="65351"/>
                    <a:pt x="764486" y="99950"/>
                    <a:pt x="764486" y="136026"/>
                  </a:cubicBezTo>
                  <a:lnTo>
                    <a:pt x="764486" y="469967"/>
                  </a:lnTo>
                  <a:cubicBezTo>
                    <a:pt x="764486" y="545092"/>
                    <a:pt x="703585" y="605993"/>
                    <a:pt x="628460" y="605993"/>
                  </a:cubicBezTo>
                  <a:lnTo>
                    <a:pt x="136026" y="605993"/>
                  </a:lnTo>
                  <a:cubicBezTo>
                    <a:pt x="99950" y="605993"/>
                    <a:pt x="65351" y="591662"/>
                    <a:pt x="39841" y="566152"/>
                  </a:cubicBezTo>
                  <a:cubicBezTo>
                    <a:pt x="14331" y="540642"/>
                    <a:pt x="0" y="506043"/>
                    <a:pt x="0" y="469967"/>
                  </a:cubicBezTo>
                  <a:lnTo>
                    <a:pt x="0" y="136026"/>
                  </a:lnTo>
                  <a:cubicBezTo>
                    <a:pt x="0" y="99950"/>
                    <a:pt x="14331" y="65351"/>
                    <a:pt x="39841" y="39841"/>
                  </a:cubicBezTo>
                  <a:cubicBezTo>
                    <a:pt x="65351" y="14331"/>
                    <a:pt x="99950" y="0"/>
                    <a:pt x="1360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6767">
                    <a:alpha val="54000"/>
                  </a:srgbClr>
                </a:gs>
                <a:gs pos="100000">
                  <a:srgbClr val="FFD1D1">
                    <a:alpha val="54000"/>
                  </a:srgbClr>
                </a:gs>
              </a:gsLst>
              <a:lin ang="5400000"/>
            </a:gradFill>
            <a:ln w="76200" cap="rnd">
              <a:solidFill>
                <a:srgbClr val="1F497D">
                  <a:alpha val="53725"/>
                </a:srgbClr>
              </a:solidFill>
              <a:prstDash val="solid"/>
              <a:round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764486" cy="672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8538398" y="1683493"/>
            <a:ext cx="827110" cy="827110"/>
          </a:xfrm>
          <a:custGeom>
            <a:avLst/>
            <a:gdLst/>
            <a:ahLst/>
            <a:cxnLst/>
            <a:rect r="r" b="b" t="t" l="l"/>
            <a:pathLst>
              <a:path h="827110" w="827110">
                <a:moveTo>
                  <a:pt x="0" y="0"/>
                </a:moveTo>
                <a:lnTo>
                  <a:pt x="827110" y="0"/>
                </a:lnTo>
                <a:lnTo>
                  <a:pt x="827110" y="827111"/>
                </a:lnTo>
                <a:lnTo>
                  <a:pt x="0" y="827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1873881" y="1778487"/>
            <a:ext cx="741572" cy="732116"/>
          </a:xfrm>
          <a:custGeom>
            <a:avLst/>
            <a:gdLst/>
            <a:ahLst/>
            <a:cxnLst/>
            <a:rect r="r" b="b" t="t" l="l"/>
            <a:pathLst>
              <a:path h="732116" w="741572">
                <a:moveTo>
                  <a:pt x="0" y="0"/>
                </a:moveTo>
                <a:lnTo>
                  <a:pt x="741572" y="0"/>
                </a:lnTo>
                <a:lnTo>
                  <a:pt x="741572" y="732117"/>
                </a:lnTo>
                <a:lnTo>
                  <a:pt x="0" y="7321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0508" t="-43005" r="-109381" b="-39154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5240000" y="1752581"/>
            <a:ext cx="1047785" cy="715783"/>
          </a:xfrm>
          <a:custGeom>
            <a:avLst/>
            <a:gdLst/>
            <a:ahLst/>
            <a:cxnLst/>
            <a:rect r="r" b="b" t="t" l="l"/>
            <a:pathLst>
              <a:path h="715783" w="1047785">
                <a:moveTo>
                  <a:pt x="0" y="0"/>
                </a:moveTo>
                <a:lnTo>
                  <a:pt x="1047785" y="0"/>
                </a:lnTo>
                <a:lnTo>
                  <a:pt x="1047785" y="715784"/>
                </a:lnTo>
                <a:lnTo>
                  <a:pt x="0" y="7157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8662794" y="4481563"/>
            <a:ext cx="1112043" cy="715414"/>
          </a:xfrm>
          <a:custGeom>
            <a:avLst/>
            <a:gdLst/>
            <a:ahLst/>
            <a:cxnLst/>
            <a:rect r="r" b="b" t="t" l="l"/>
            <a:pathLst>
              <a:path h="715414" w="1112043">
                <a:moveTo>
                  <a:pt x="0" y="0"/>
                </a:moveTo>
                <a:lnTo>
                  <a:pt x="1112043" y="0"/>
                </a:lnTo>
                <a:lnTo>
                  <a:pt x="1112043" y="715414"/>
                </a:lnTo>
                <a:lnTo>
                  <a:pt x="0" y="715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1971901" y="4569741"/>
            <a:ext cx="993484" cy="762287"/>
          </a:xfrm>
          <a:custGeom>
            <a:avLst/>
            <a:gdLst/>
            <a:ahLst/>
            <a:cxnLst/>
            <a:rect r="r" b="b" t="t" l="l"/>
            <a:pathLst>
              <a:path h="762287" w="993484">
                <a:moveTo>
                  <a:pt x="0" y="0"/>
                </a:moveTo>
                <a:lnTo>
                  <a:pt x="993484" y="0"/>
                </a:lnTo>
                <a:lnTo>
                  <a:pt x="993484" y="762287"/>
                </a:lnTo>
                <a:lnTo>
                  <a:pt x="0" y="762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30329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5438595" y="4481563"/>
            <a:ext cx="1025458" cy="801139"/>
          </a:xfrm>
          <a:custGeom>
            <a:avLst/>
            <a:gdLst/>
            <a:ahLst/>
            <a:cxnLst/>
            <a:rect r="r" b="b" t="t" l="l"/>
            <a:pathLst>
              <a:path h="801139" w="1025458">
                <a:moveTo>
                  <a:pt x="0" y="0"/>
                </a:moveTo>
                <a:lnTo>
                  <a:pt x="1025458" y="0"/>
                </a:lnTo>
                <a:lnTo>
                  <a:pt x="1025458" y="801139"/>
                </a:lnTo>
                <a:lnTo>
                  <a:pt x="0" y="8011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8791884" y="7117427"/>
            <a:ext cx="2397957" cy="556004"/>
          </a:xfrm>
          <a:custGeom>
            <a:avLst/>
            <a:gdLst/>
            <a:ahLst/>
            <a:cxnLst/>
            <a:rect r="r" b="b" t="t" l="l"/>
            <a:pathLst>
              <a:path h="556004" w="2397957">
                <a:moveTo>
                  <a:pt x="0" y="0"/>
                </a:moveTo>
                <a:lnTo>
                  <a:pt x="2397957" y="0"/>
                </a:lnTo>
                <a:lnTo>
                  <a:pt x="2397957" y="556004"/>
                </a:lnTo>
                <a:lnTo>
                  <a:pt x="0" y="5560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64282" r="0" b="-167001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2244667" y="7120893"/>
            <a:ext cx="2238840" cy="552539"/>
          </a:xfrm>
          <a:custGeom>
            <a:avLst/>
            <a:gdLst/>
            <a:ahLst/>
            <a:cxnLst/>
            <a:rect r="r" b="b" t="t" l="l"/>
            <a:pathLst>
              <a:path h="552539" w="2238840">
                <a:moveTo>
                  <a:pt x="0" y="0"/>
                </a:moveTo>
                <a:lnTo>
                  <a:pt x="2238840" y="0"/>
                </a:lnTo>
                <a:lnTo>
                  <a:pt x="2238840" y="552538"/>
                </a:lnTo>
                <a:lnTo>
                  <a:pt x="0" y="5525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82195" r="0" b="-41726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5369359" y="7297702"/>
            <a:ext cx="980059" cy="490030"/>
          </a:xfrm>
          <a:custGeom>
            <a:avLst/>
            <a:gdLst/>
            <a:ahLst/>
            <a:cxnLst/>
            <a:rect r="r" b="b" t="t" l="l"/>
            <a:pathLst>
              <a:path h="490030" w="980059">
                <a:moveTo>
                  <a:pt x="0" y="0"/>
                </a:moveTo>
                <a:lnTo>
                  <a:pt x="980059" y="0"/>
                </a:lnTo>
                <a:lnTo>
                  <a:pt x="980059" y="490029"/>
                </a:lnTo>
                <a:lnTo>
                  <a:pt x="0" y="49002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5400000">
            <a:off x="3033962" y="-1325241"/>
            <a:ext cx="1889449" cy="7957373"/>
            <a:chOff x="0" y="0"/>
            <a:chExt cx="381000" cy="160457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81000" cy="1604573"/>
            </a:xfrm>
            <a:custGeom>
              <a:avLst/>
              <a:gdLst/>
              <a:ahLst/>
              <a:cxnLst/>
              <a:rect r="r" b="b" t="t" l="l"/>
              <a:pathLst>
                <a:path h="1604573" w="381000">
                  <a:moveTo>
                    <a:pt x="381000" y="62003"/>
                  </a:moveTo>
                  <a:lnTo>
                    <a:pt x="381000" y="1435663"/>
                  </a:lnTo>
                  <a:lnTo>
                    <a:pt x="190500" y="1604573"/>
                  </a:lnTo>
                  <a:lnTo>
                    <a:pt x="0" y="1435663"/>
                  </a:lnTo>
                  <a:lnTo>
                    <a:pt x="0" y="62003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2860"/>
                    <a:pt x="381000" y="6200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A9FF">
                    <a:alpha val="100000"/>
                  </a:srgbClr>
                </a:gs>
                <a:gs pos="100000">
                  <a:srgbClr val="F5F8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381000" cy="1494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5400000">
            <a:off x="3081587" y="681514"/>
            <a:ext cx="1889449" cy="7957373"/>
            <a:chOff x="0" y="0"/>
            <a:chExt cx="381000" cy="160457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81000" cy="1604573"/>
            </a:xfrm>
            <a:custGeom>
              <a:avLst/>
              <a:gdLst/>
              <a:ahLst/>
              <a:cxnLst/>
              <a:rect r="r" b="b" t="t" l="l"/>
              <a:pathLst>
                <a:path h="1604573" w="381000">
                  <a:moveTo>
                    <a:pt x="381000" y="62003"/>
                  </a:moveTo>
                  <a:lnTo>
                    <a:pt x="381000" y="1435663"/>
                  </a:lnTo>
                  <a:lnTo>
                    <a:pt x="190500" y="1604573"/>
                  </a:lnTo>
                  <a:lnTo>
                    <a:pt x="0" y="1435663"/>
                  </a:lnTo>
                  <a:lnTo>
                    <a:pt x="0" y="62003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2860"/>
                    <a:pt x="381000" y="6200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A8AFF">
                    <a:alpha val="100000"/>
                  </a:srgbClr>
                </a:gs>
                <a:gs pos="100000">
                  <a:srgbClr val="B2FB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381000" cy="1494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5400000">
            <a:off x="3081587" y="2727556"/>
            <a:ext cx="1889449" cy="7957373"/>
            <a:chOff x="0" y="0"/>
            <a:chExt cx="381000" cy="160457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81000" cy="1604573"/>
            </a:xfrm>
            <a:custGeom>
              <a:avLst/>
              <a:gdLst/>
              <a:ahLst/>
              <a:cxnLst/>
              <a:rect r="r" b="b" t="t" l="l"/>
              <a:pathLst>
                <a:path h="1604573" w="381000">
                  <a:moveTo>
                    <a:pt x="381000" y="62003"/>
                  </a:moveTo>
                  <a:lnTo>
                    <a:pt x="381000" y="1435663"/>
                  </a:lnTo>
                  <a:lnTo>
                    <a:pt x="190500" y="1604573"/>
                  </a:lnTo>
                  <a:lnTo>
                    <a:pt x="0" y="1435663"/>
                  </a:lnTo>
                  <a:lnTo>
                    <a:pt x="0" y="62003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2860"/>
                    <a:pt x="381000" y="6200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794B6">
                    <a:alpha val="100000"/>
                  </a:srgbClr>
                </a:gs>
                <a:gs pos="100000">
                  <a:srgbClr val="DFFAFF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381000" cy="1494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5400000">
            <a:off x="3081587" y="4753770"/>
            <a:ext cx="1889449" cy="7957373"/>
            <a:chOff x="0" y="0"/>
            <a:chExt cx="381000" cy="160457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81000" cy="1604573"/>
            </a:xfrm>
            <a:custGeom>
              <a:avLst/>
              <a:gdLst/>
              <a:ahLst/>
              <a:cxnLst/>
              <a:rect r="r" b="b" t="t" l="l"/>
              <a:pathLst>
                <a:path h="1604573" w="381000">
                  <a:moveTo>
                    <a:pt x="381000" y="62003"/>
                  </a:moveTo>
                  <a:lnTo>
                    <a:pt x="381000" y="1435663"/>
                  </a:lnTo>
                  <a:lnTo>
                    <a:pt x="190500" y="1604573"/>
                  </a:lnTo>
                  <a:lnTo>
                    <a:pt x="0" y="1435663"/>
                  </a:lnTo>
                  <a:lnTo>
                    <a:pt x="0" y="62003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2860"/>
                    <a:pt x="381000" y="6200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381000" cy="1494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245438" y="2061831"/>
            <a:ext cx="1250907" cy="1250907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362816" y="8104215"/>
            <a:ext cx="1250907" cy="1250907"/>
            <a:chOff x="0" y="0"/>
            <a:chExt cx="812800" cy="812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362816" y="6100225"/>
            <a:ext cx="1250907" cy="1250907"/>
            <a:chOff x="0" y="0"/>
            <a:chExt cx="812800" cy="812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362816" y="4081122"/>
            <a:ext cx="1250907" cy="1250907"/>
            <a:chOff x="0" y="0"/>
            <a:chExt cx="812800" cy="812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396799" y="2151510"/>
            <a:ext cx="948185" cy="948185"/>
          </a:xfrm>
          <a:custGeom>
            <a:avLst/>
            <a:gdLst/>
            <a:ahLst/>
            <a:cxnLst/>
            <a:rect r="r" b="b" t="t" l="l"/>
            <a:pathLst>
              <a:path h="948185" w="948185">
                <a:moveTo>
                  <a:pt x="0" y="0"/>
                </a:moveTo>
                <a:lnTo>
                  <a:pt x="948185" y="0"/>
                </a:lnTo>
                <a:lnTo>
                  <a:pt x="948185" y="948185"/>
                </a:lnTo>
                <a:lnTo>
                  <a:pt x="0" y="94818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379808" y="4137525"/>
            <a:ext cx="1216923" cy="1138101"/>
          </a:xfrm>
          <a:custGeom>
            <a:avLst/>
            <a:gdLst/>
            <a:ahLst/>
            <a:cxnLst/>
            <a:rect r="r" b="b" t="t" l="l"/>
            <a:pathLst>
              <a:path h="1138101" w="1216923">
                <a:moveTo>
                  <a:pt x="0" y="0"/>
                </a:moveTo>
                <a:lnTo>
                  <a:pt x="1216923" y="0"/>
                </a:lnTo>
                <a:lnTo>
                  <a:pt x="1216923" y="1138100"/>
                </a:lnTo>
                <a:lnTo>
                  <a:pt x="0" y="11381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31016" t="-64450" r="-28354" b="-49521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362816" y="6093217"/>
            <a:ext cx="1232515" cy="1226052"/>
          </a:xfrm>
          <a:custGeom>
            <a:avLst/>
            <a:gdLst/>
            <a:ahLst/>
            <a:cxnLst/>
            <a:rect r="r" b="b" t="t" l="l"/>
            <a:pathLst>
              <a:path h="1226052" w="1232515">
                <a:moveTo>
                  <a:pt x="0" y="0"/>
                </a:moveTo>
                <a:lnTo>
                  <a:pt x="1232515" y="0"/>
                </a:lnTo>
                <a:lnTo>
                  <a:pt x="1232515" y="1226051"/>
                </a:lnTo>
                <a:lnTo>
                  <a:pt x="0" y="122605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5337" t="-13812" r="-15807" b="-39485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355055" y="8036304"/>
            <a:ext cx="1333454" cy="1333454"/>
          </a:xfrm>
          <a:custGeom>
            <a:avLst/>
            <a:gdLst/>
            <a:ahLst/>
            <a:cxnLst/>
            <a:rect r="r" b="b" t="t" l="l"/>
            <a:pathLst>
              <a:path h="1333454" w="1333454">
                <a:moveTo>
                  <a:pt x="0" y="0"/>
                </a:moveTo>
                <a:lnTo>
                  <a:pt x="1333454" y="0"/>
                </a:lnTo>
                <a:lnTo>
                  <a:pt x="1333454" y="1333454"/>
                </a:lnTo>
                <a:lnTo>
                  <a:pt x="0" y="133345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grpSp>
        <p:nvGrpSpPr>
          <p:cNvPr name="Group 87" id="87"/>
          <p:cNvGrpSpPr/>
          <p:nvPr/>
        </p:nvGrpSpPr>
        <p:grpSpPr>
          <a:xfrm rot="-10800000">
            <a:off x="-2687080" y="892623"/>
            <a:ext cx="10841084" cy="680422"/>
            <a:chOff x="0" y="0"/>
            <a:chExt cx="2855265" cy="17920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855265" cy="179206"/>
            </a:xfrm>
            <a:custGeom>
              <a:avLst/>
              <a:gdLst/>
              <a:ahLst/>
              <a:cxnLst/>
              <a:rect r="r" b="b" t="t" l="l"/>
              <a:pathLst>
                <a:path h="179206" w="2855265">
                  <a:moveTo>
                    <a:pt x="36421" y="0"/>
                  </a:moveTo>
                  <a:lnTo>
                    <a:pt x="2818845" y="0"/>
                  </a:lnTo>
                  <a:cubicBezTo>
                    <a:pt x="2828504" y="0"/>
                    <a:pt x="2837767" y="3837"/>
                    <a:pt x="2844598" y="10667"/>
                  </a:cubicBezTo>
                  <a:cubicBezTo>
                    <a:pt x="2851428" y="17497"/>
                    <a:pt x="2855265" y="26761"/>
                    <a:pt x="2855265" y="36421"/>
                  </a:cubicBezTo>
                  <a:lnTo>
                    <a:pt x="2855265" y="142785"/>
                  </a:lnTo>
                  <a:cubicBezTo>
                    <a:pt x="2855265" y="162900"/>
                    <a:pt x="2838959" y="179206"/>
                    <a:pt x="2818845" y="179206"/>
                  </a:cubicBezTo>
                  <a:lnTo>
                    <a:pt x="36421" y="179206"/>
                  </a:lnTo>
                  <a:cubicBezTo>
                    <a:pt x="16306" y="179206"/>
                    <a:pt x="0" y="162900"/>
                    <a:pt x="0" y="142785"/>
                  </a:cubicBezTo>
                  <a:lnTo>
                    <a:pt x="0" y="36421"/>
                  </a:lnTo>
                  <a:cubicBezTo>
                    <a:pt x="0" y="16306"/>
                    <a:pt x="16306" y="0"/>
                    <a:pt x="36421" y="0"/>
                  </a:cubicBez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66675"/>
              <a:ext cx="2855265" cy="245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  <a:r>
                <a:rPr lang="en-US" b="true" sz="23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         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340329" y="941404"/>
            <a:ext cx="556500" cy="614918"/>
          </a:xfrm>
          <a:custGeom>
            <a:avLst/>
            <a:gdLst/>
            <a:ahLst/>
            <a:cxnLst/>
            <a:rect r="r" b="b" t="t" l="l"/>
            <a:pathLst>
              <a:path h="614918" w="556500">
                <a:moveTo>
                  <a:pt x="0" y="0"/>
                </a:moveTo>
                <a:lnTo>
                  <a:pt x="556500" y="0"/>
                </a:lnTo>
                <a:lnTo>
                  <a:pt x="556500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1" id="91"/>
          <p:cNvSpPr txBox="true"/>
          <p:nvPr/>
        </p:nvSpPr>
        <p:spPr>
          <a:xfrm rot="0">
            <a:off x="13831164" y="962025"/>
            <a:ext cx="4454843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🔗 </a:t>
            </a:r>
            <a:r>
              <a:rPr lang="en-US" b="true" sz="23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key sources for our research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8538398" y="898099"/>
            <a:ext cx="47434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📖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8538398" y="2663703"/>
            <a:ext cx="3036109" cy="1336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9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0.6B local PII detector—mirrors your project's core goal.</a:t>
            </a:r>
          </a:p>
        </p:txBody>
      </p:sp>
      <p:sp>
        <p:nvSpPr>
          <p:cNvPr name="TextBox 94" id="94" descr="click here "/>
          <p:cNvSpPr txBox="true"/>
          <p:nvPr/>
        </p:nvSpPr>
        <p:spPr>
          <a:xfrm rot="0">
            <a:off x="9535426" y="1721337"/>
            <a:ext cx="2168538" cy="747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b="true" sz="2089" u="sng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  <a:hlinkClick r:id="rId19" tooltip="https://www.perplexity.ai/hub/blog/pii-trace-detecting-personal-data-before-it-leaves-the-device"/>
              </a:rPr>
              <a:t>Perplexity PII Tracer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1938357" y="2541060"/>
            <a:ext cx="2835274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4"/>
              </a:lnSpc>
            </a:pPr>
            <a:r>
              <a:rPr lang="en-US" sz="23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OpenAI's solution for preventing URL-based data exfiltration in AI agents.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2786903" y="1761280"/>
            <a:ext cx="1873261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 u="sng">
                <a:solidFill>
                  <a:srgbClr val="4A7EBB"/>
                </a:solidFill>
                <a:latin typeface="Arimo Bold"/>
                <a:ea typeface="Arimo Bold"/>
                <a:cs typeface="Arimo Bold"/>
                <a:sym typeface="Arimo Bold"/>
                <a:hlinkClick r:id="rId20" tooltip="https://openai.com/index/ai-agent-link-safety/"/>
              </a:rPr>
              <a:t>OpenAI Link Safety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5278289" y="2531535"/>
            <a:ext cx="2919304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sz="22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Official Income Tax Department portal for PAN's 10-character alphanumeric structure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6287785" y="1752116"/>
            <a:ext cx="160322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u="sng" b="true">
                <a:solidFill>
                  <a:srgbClr val="4A7EBB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true" sz="2100" u="sng">
                <a:solidFill>
                  <a:srgbClr val="4A7EBB"/>
                </a:solidFill>
                <a:latin typeface="Arimo Bold"/>
                <a:ea typeface="Arimo Bold"/>
                <a:cs typeface="Arimo Bold"/>
                <a:sym typeface="Arimo Bold"/>
                <a:hlinkClick r:id="rId21" tooltip="https://www.incometax.gov.in"/>
              </a:rPr>
              <a:t>Income Tax PAN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8538398" y="5233636"/>
            <a:ext cx="2816908" cy="147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2"/>
              </a:lnSpc>
            </a:pPr>
            <a:r>
              <a:rPr lang="en-US" sz="2600" spc="-1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Official UIDAI page for Aadhaar's 12-digit format and Verhoeff checksum.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9989727" y="4512735"/>
            <a:ext cx="175594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u="sng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  <a:hlinkClick r:id="rId22" tooltip="https://uidai.gov.in/bn/about-aadhaar"/>
              </a:rPr>
              <a:t>UIDAI Aadhaar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1938357" y="5385383"/>
            <a:ext cx="2868818" cy="120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sz="2265" spc="-1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browser-based document pipeline (PDF → OCR → NER) running entirely locally via WebAssembly/WebGPU.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3178820" y="4603051"/>
            <a:ext cx="1304687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b="true" sz="2400" u="sng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  <a:hlinkClick r:id="rId23" tooltip="https://scaledp-ts.stabrise.com"/>
              </a:rPr>
              <a:t>Scale DP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5296435" y="5367388"/>
            <a:ext cx="2806435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0"/>
              </a:lnSpc>
            </a:pPr>
            <a:r>
              <a:rPr lang="en-US" sz="22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Official Chrome overview of WebGPU, enabling 3×+ speedup over WebGL</a:t>
            </a:r>
            <a:r>
              <a:rPr lang="en-US" sz="2233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.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6699652" y="4464620"/>
            <a:ext cx="175594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u="sng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  <a:hlinkClick r:id="rId24" tooltip="https://developer.chrome.com/docs/web-platform/webgpu/overview"/>
              </a:rPr>
              <a:t>WebGPU Overview 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8652645" y="8247125"/>
            <a:ext cx="2674164" cy="113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9"/>
              </a:lnSpc>
            </a:pPr>
            <a:r>
              <a:rPr lang="en-US" sz="2383" spc="-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Microsoft's open-source toolkit for PII detection and redaction in text and images.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8704019" y="7730581"/>
            <a:ext cx="265128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b="true" sz="2200" u="sng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  <a:hlinkClick r:id="rId25" tooltip="https://microsoft.github.io/presidio/"/>
              </a:rPr>
              <a:t>Microsoft Presidio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1891535" y="8036985"/>
            <a:ext cx="2897985" cy="1332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2"/>
              </a:lnSpc>
            </a:pPr>
            <a:r>
              <a:rPr lang="en-US" sz="21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benchmark dataset for evaluating masking quality via precision/recall and F2 score.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5235800" y="7908242"/>
            <a:ext cx="2923504" cy="1461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"/>
              </a:lnSpc>
            </a:pPr>
            <a:r>
              <a:rPr lang="en-US" sz="2300" spc="-13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Cloudflare's solution for classifying and blocking AI bots (Search, Agent, Training) with granular controls.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6344220" y="7243866"/>
            <a:ext cx="1815085" cy="6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9"/>
              </a:lnSpc>
            </a:pPr>
            <a:r>
              <a:rPr lang="en-US" b="true" sz="1720" u="sng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  <a:hlinkClick r:id="rId26" tooltip="https://blog.cloudflare.com/content-independence-day-ai-options/"/>
              </a:rPr>
              <a:t>Cloudflare AI Bot Management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2030351" y="7654381"/>
            <a:ext cx="265128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b="true" sz="2200" u="sng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  <a:hlinkClick r:id="rId27" tooltip="https://huggingface.co/datasets/piim-benchmark/piim"/>
              </a:rPr>
              <a:t>PIIMB Benchmark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741783" y="1658771"/>
            <a:ext cx="500462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4"/>
              </a:lnSpc>
              <a:spcBef>
                <a:spcPct val="0"/>
              </a:spcBef>
            </a:pPr>
            <a:r>
              <a:rPr lang="en-US" b="true" sz="312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Competitive Landscape: 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429670" y="2168481"/>
            <a:ext cx="6575328" cy="141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9"/>
              </a:lnSpc>
            </a:pPr>
            <a:r>
              <a:rPr lang="en-US" sz="215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 browser agents share privacy risks like prompt injection and excessive data access; Brave Leo's on-device processing highlights the need for secure local agents.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429670" y="3703110"/>
            <a:ext cx="48841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4"/>
              </a:lnSpc>
              <a:spcBef>
                <a:spcPct val="0"/>
              </a:spcBef>
            </a:pPr>
            <a:r>
              <a:rPr lang="en-US" b="true" sz="322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Indian Sensitive Data: 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534445" y="4301933"/>
            <a:ext cx="6508653" cy="117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3"/>
              </a:lnSpc>
            </a:pPr>
            <a:r>
              <a:rPr lang="en-US" sz="2300" spc="-6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Indian sites expose 8 identifiers (Aadhaar, PAN, UPI, IFSC, Voter ID, DL, Passport, Bank). Covers email, phone, Aadhaar, PAN, cards—gaps: UPI, IFSC, bank, govt IDs.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613723" y="6285484"/>
            <a:ext cx="6343650" cy="1318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6"/>
              </a:lnSpc>
            </a:pPr>
            <a:r>
              <a:rPr lang="en-US" sz="2300" spc="-7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MediaPipe enables local face detection (~2.3MB), while Tesseract.js (300ms) and PaddleOCR.js (97ms) deliver OCR via WebGPU's 3-8× speedup, despite 1-5s warm-up.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741783" y="7736947"/>
            <a:ext cx="38717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Redaction Quality: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855457" y="5652388"/>
            <a:ext cx="4032528" cy="56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On-Device Perception: 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613723" y="8298922"/>
            <a:ext cx="6391275" cy="1318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6"/>
              </a:lnSpc>
            </a:pPr>
            <a:r>
              <a:rPr lang="en-US" sz="2300" spc="-8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Redaction quality measured via PII precision/recall &amp; Masking F2 (recall-focused), with OCR leak-checking. Contextual labels boost confidence; false-positive catalog prevents over-redaction.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2879709" y="777639"/>
            <a:ext cx="6133033" cy="1366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8"/>
              </a:lnSpc>
            </a:pPr>
            <a:r>
              <a:rPr lang="en-US" b="true" sz="3934" i="true" u="sng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Research </a:t>
            </a:r>
          </a:p>
          <a:p>
            <a:pPr algn="ctr">
              <a:lnSpc>
                <a:spcPts val="5508"/>
              </a:lnSpc>
            </a:pPr>
          </a:p>
        </p:txBody>
      </p:sp>
      <p:sp>
        <p:nvSpPr>
          <p:cNvPr name="AutoShape 120" id="120"/>
          <p:cNvSpPr/>
          <p:nvPr/>
        </p:nvSpPr>
        <p:spPr>
          <a:xfrm>
            <a:off x="2733525" y="1166779"/>
            <a:ext cx="1772826" cy="584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8575" y="2657970"/>
            <a:ext cx="18345150" cy="6535950"/>
            <a:chOff x="0" y="0"/>
            <a:chExt cx="24460200" cy="87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60200" cy="8714613"/>
            </a:xfrm>
            <a:custGeom>
              <a:avLst/>
              <a:gdLst/>
              <a:ahLst/>
              <a:cxnLst/>
              <a:rect r="r" b="b" t="t" l="l"/>
              <a:pathLst>
                <a:path h="8714613" w="24460200">
                  <a:moveTo>
                    <a:pt x="1452499" y="0"/>
                  </a:moveTo>
                  <a:lnTo>
                    <a:pt x="24460200" y="0"/>
                  </a:lnTo>
                  <a:lnTo>
                    <a:pt x="24460200" y="7262114"/>
                  </a:lnTo>
                  <a:cubicBezTo>
                    <a:pt x="24460200" y="8064246"/>
                    <a:pt x="23809961" y="8714613"/>
                    <a:pt x="23007701" y="8714613"/>
                  </a:cubicBezTo>
                  <a:lnTo>
                    <a:pt x="0" y="8714613"/>
                  </a:lnTo>
                  <a:lnTo>
                    <a:pt x="0" y="1452499"/>
                  </a:lnTo>
                  <a:cubicBezTo>
                    <a:pt x="0" y="650240"/>
                    <a:pt x="650240" y="0"/>
                    <a:pt x="1452499" y="0"/>
                  </a:cubicBezTo>
                  <a:close/>
                </a:path>
              </a:pathLst>
            </a:custGeom>
            <a:solidFill>
              <a:srgbClr val="DCE6F2"/>
            </a:solidFill>
            <a:ln w="5715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43176" y="2928404"/>
            <a:ext cx="17464249" cy="600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six </a:t>
            </a: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(6). 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slide)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should be unique and novel.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can only use provided template for making the PPT without changing the idea details pointers (mentioned in previous slides).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need to save the file in PDF and upload the same on portal. No PPT, Word Doc or any other format will be supported.</a:t>
            </a:r>
          </a:p>
          <a:p>
            <a:pPr algn="just" marL="488632" indent="-244316" lvl="1">
              <a:lnSpc>
                <a:spcPts val="2916"/>
              </a:lnSpc>
            </a:pPr>
          </a:p>
          <a:p>
            <a:pPr algn="just" marL="488632" indent="-244316" lvl="1">
              <a:lnSpc>
                <a:spcPts val="2916"/>
              </a:lnSpc>
            </a:pP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 when you upload the details of your idea on SIH portal.</a:t>
            </a:r>
          </a:p>
          <a:p>
            <a:pPr algn="just" marL="488632" indent="-244316" lvl="1">
              <a:lnSpc>
                <a:spcPts val="291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181501" y="177746"/>
            <a:ext cx="12432925" cy="90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4953" y="1828095"/>
            <a:ext cx="14153607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DAHUiTOwLnA</dc:identifier>
  <dcterms:modified xsi:type="dcterms:W3CDTF">2011-08-01T06:04:30Z</dcterms:modified>
  <cp:revision>1</cp:revision>
  <dc:title>Competitive Landscape</dc:title>
</cp:coreProperties>
</file>